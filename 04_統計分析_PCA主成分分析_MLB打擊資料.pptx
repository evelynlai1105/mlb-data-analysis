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  <p:sldMasterId id="2147483747" r:id="rId2"/>
  </p:sldMasterIdLst>
  <p:notesMasterIdLst>
    <p:notesMasterId r:id="rId30"/>
  </p:notesMasterIdLst>
  <p:sldIdLst>
    <p:sldId id="9017" r:id="rId3"/>
    <p:sldId id="8975" r:id="rId4"/>
    <p:sldId id="267" r:id="rId5"/>
    <p:sldId id="268" r:id="rId6"/>
    <p:sldId id="9019" r:id="rId7"/>
    <p:sldId id="9029" r:id="rId8"/>
    <p:sldId id="8931" r:id="rId9"/>
    <p:sldId id="8977" r:id="rId10"/>
    <p:sldId id="8976" r:id="rId11"/>
    <p:sldId id="9020" r:id="rId12"/>
    <p:sldId id="9021" r:id="rId13"/>
    <p:sldId id="9008" r:id="rId14"/>
    <p:sldId id="9009" r:id="rId15"/>
    <p:sldId id="9022" r:id="rId16"/>
    <p:sldId id="9023" r:id="rId17"/>
    <p:sldId id="9010" r:id="rId18"/>
    <p:sldId id="9024" r:id="rId19"/>
    <p:sldId id="9013" r:id="rId20"/>
    <p:sldId id="9001" r:id="rId21"/>
    <p:sldId id="9012" r:id="rId22"/>
    <p:sldId id="9027" r:id="rId23"/>
    <p:sldId id="9028" r:id="rId24"/>
    <p:sldId id="8991" r:id="rId25"/>
    <p:sldId id="9014" r:id="rId26"/>
    <p:sldId id="9025" r:id="rId27"/>
    <p:sldId id="9026" r:id="rId28"/>
    <p:sldId id="901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34" autoAdjust="0"/>
  </p:normalViewPr>
  <p:slideViewPr>
    <p:cSldViewPr snapToGrid="0">
      <p:cViewPr varScale="1">
        <p:scale>
          <a:sx n="70" d="100"/>
          <a:sy n="70" d="100"/>
        </p:scale>
        <p:origin x="46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19D39-6F6F-47EB-BA7C-29A3A11766C2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FE8113-B74D-4555-9274-22C467091A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1277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BD2E2-3AE8-4464-B198-BEB3329ABEF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789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E2518-3B98-4FDC-8187-62111383F9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327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8E8A4-EBD7-7247-76BB-E14F809A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E98650-FE89-FC0B-1DB8-86525B6CA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4101E8-33C0-49E9-5EC7-3F7FCA997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81F85A-3B4D-7374-900F-739A1B9C2B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C77BDF-CA09-44A9-AC8A-20BD43FF1E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6282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897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C77BDF-CA09-44A9-AC8A-20BD43FF1E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6270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E2518-3B98-4FDC-8187-62111383F9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539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1BF66-5679-25FA-9EB7-2874E5813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0912F1-8EE2-617E-15EB-BABD718AE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A8EAAC-9C77-3FB3-7393-5823623E1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EBE7D7-89F3-E670-EE51-8E55C532A4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C77BDF-CA09-44A9-AC8A-20BD43FF1E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871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6D78B-544D-F4F5-A92A-E42D0941B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1ECE07-EE45-B5F6-E373-5BE5319FD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2C5B28-3436-ABA4-A7A6-D45E6F7CC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D135FF-0B6B-99E9-0B4E-A6AAABED9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C77BDF-CA09-44A9-AC8A-20BD43FF1E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366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C77BDF-CA09-44A9-AC8A-20BD43FF1E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803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DA840-D89F-B85D-95E7-A4D8AC266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464B4E-A454-9BB5-426F-A333D11E1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688F-521B-F481-D8CA-1A8569FDA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87502E-3C2E-4A2E-DEFC-49067FA65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C77BDF-CA09-44A9-AC8A-20BD43FF1E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150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1888-A421-5DD1-5194-B856B593C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127B5B-AE59-F5C0-09F3-0AD795BF6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F10704-72D8-29DB-E6DA-04B14A995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49BE57-4D6B-F076-BBD3-DEEAC09D63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C77BDF-CA09-44A9-AC8A-20BD43FF1E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2813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AFDC-06D5-1114-FD01-C7B1D296F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595C8E-46CF-EAE5-CE5C-9E5CA207D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6EF59F-4790-C7A7-1095-B76642D27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E61456-BDE4-4D05-95EA-8D9C9B5013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C77BDF-CA09-44A9-AC8A-20BD43FF1E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019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EEF90-5791-1F20-4A4E-E4FDF4093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B8D68B-0B61-884A-18AC-1E8A8EB58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241825-BEB7-9108-4EFB-21C693B6F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4699D8-29C2-C519-960E-08EEEE1B9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C77BDF-CA09-44A9-AC8A-20BD43FF1E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109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91BC2-241B-4BFD-78F8-1C75096A6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019FC7-B77A-F97E-42CB-926462AC0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698F91-ABA0-267F-2E2F-ED94DBCE3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7661A8-D8E3-7FC2-FD3F-147348D94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C77BDF-CA09-44A9-AC8A-20BD43FF1E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5932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54E9E-688E-6DCF-4B59-3379AC2E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286CE5-FAD4-A3CF-98BF-AA811E4D0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556BC7-3597-A3FD-C974-6ADB69262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7C1D13-DF2E-871E-9D3F-E20AB4424D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77BDF-CA09-44A9-AC8A-20BD43FF1E9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2452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77BDF-CA09-44A9-AC8A-20BD43FF1E9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181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11339-2518-42D1-9B0F-A60C52EF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5FFE2B-E04B-AF8F-ED8A-F4234A7DD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182908-0CB2-729A-A9EE-AD3F9BBF2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BB2F15-FBF1-9C3E-2AF5-2528DF505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77BDF-CA09-44A9-AC8A-20BD43FF1E9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1371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DBAD-3500-E3A8-EB9E-A03DFE140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BBD627-EDEB-972D-4652-16C612AEB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9CE34B-75E5-F646-64D6-AEE064508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7DF45F-2241-ED54-3777-39BA4E545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77BDF-CA09-44A9-AC8A-20BD43FF1E9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36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FA86-C78D-F64B-3769-9CD4D29C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97069E-7367-CB79-3525-00E507548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E7C597-6F0D-A155-0A6A-9F0A5D1C5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CCC374-937E-47CE-57A5-15D8346C1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77BDF-CA09-44A9-AC8A-20BD43FF1E9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6265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77BDF-CA09-44A9-AC8A-20BD43FF1E9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4650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27F2F-9472-9BBE-3FB5-D90A15B8A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7C4174-DE23-8D39-38B5-F2CE26D66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DD56E6-BDA2-BF5E-0C54-44D76AA8F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71F66-8593-787C-B98F-B95F86B68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77BDF-CA09-44A9-AC8A-20BD43FF1E9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525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D4527-661F-C62E-1F0E-0F536468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694B0C-AA29-BF99-1D0E-0E63F2412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20B64B-558C-2B18-7E1B-31D0E2AD2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F5D903-A1B8-A037-38B2-175AF763A0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77BDF-CA09-44A9-AC8A-20BD43FF1E9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773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469CB-80DB-BD79-D3A8-7149C2EA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212351-6801-AC3D-D1B0-80216F03D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4D2CAE-8D19-0A92-3AB8-21D683C43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5787E6-0301-D4CD-02D4-271B050E1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77BDF-CA09-44A9-AC8A-20BD43FF1E97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2207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D99FB-BDED-DFB8-90B3-9C62A4436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F4B6C4-35B7-3FC3-BB3F-5055ABE56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3CCE08-AAB2-FBDE-A2AB-A62E14D0B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1FA64F-CDE7-497D-EECF-482BB7616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E2518-3B98-4FDC-8187-62111383F918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329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031C6-7073-46A1-9FFE-A15BFBF21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437D23-7FD2-4D7B-A354-578BBC7F4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8318AB-AB8A-447F-B116-6FA9069E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7E4E3-178F-4850-8446-94DAB1DBF14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9AC75C-EB95-4BD7-9F9F-1E1BB95CC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1C445A-ECAB-43D5-8A94-B4A27377A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E2EB7-589A-482F-BF82-CB1F6D8CF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202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DAB12-376C-4C3A-A40D-529315A9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587F04-DD8D-4FAD-8EDB-FF77251D7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320A99-4726-4041-ABCD-DABF11CB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7E4E3-178F-4850-8446-94DAB1DBF14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A88246-BE91-4464-A145-BAABFA4A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52E709-7F3F-4218-9CBC-ECA24C0A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E2EB7-589A-482F-BF82-CB1F6D8CF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2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A099DB-322D-489A-AE77-A1DE29D82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7D93B5-B352-4F0D-BE76-6180882F5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D24FB3-784E-4C68-927F-607E9B61D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7E4E3-178F-4850-8446-94DAB1DBF14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068681-4CF9-4392-BA95-13099BEF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312749-B25B-4B83-A611-E29F659F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E2EB7-589A-482F-BF82-CB1F6D8CF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88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CAE32-026F-4038-A334-C206BB2AE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1B3001-F6BA-45C7-BA32-F8249D86F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3AC9E-E773-4C1B-BAA0-72119E208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C29C62-E90F-4F88-9587-C6885844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7E4E3-178F-4850-8446-94DAB1DBF14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560B5B-7E0F-4374-98E1-B53AC12D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AA3143-8442-4892-A1E5-B9FF488A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E2EB7-589A-482F-BF82-CB1F6D8CF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56268-1AFB-4174-8CC2-35D94330B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81776A-6616-41DC-8B53-7556C1FC8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E87ADF-A7BA-4A50-8A4F-2E0F6F8EB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6C3F3F-57DD-47DA-8A25-82732328D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A61051-161B-49D3-AE82-195BE87CC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16A9C3-19EC-4CCD-8FAD-5CA2A8EB0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7E4E3-178F-4850-8446-94DAB1DBF14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D25F77-25AF-4DDC-82E6-03B51858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A129FB-320C-45F5-854A-3B0F867C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E2EB7-589A-482F-BF82-CB1F6D8CF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5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91241-DDB7-469F-A799-7EE9EBD48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F24188-91E0-4F89-93F5-63C62119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7E4E3-178F-4850-8446-94DAB1DBF14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00D706-2CC3-487B-A54D-358813FC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4815E3-398C-4B6A-B907-19697A0E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E2EB7-589A-482F-BF82-CB1F6D8CF3F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7891026F-03D1-40DC-BFF5-C4F91EAFFFD2}"/>
              </a:ext>
            </a:extLst>
          </p:cNvPr>
          <p:cNvSpPr/>
          <p:nvPr userDrawn="1"/>
        </p:nvSpPr>
        <p:spPr>
          <a:xfrm flipH="1">
            <a:off x="480811" y="0"/>
            <a:ext cx="10947043" cy="6858000"/>
          </a:xfrm>
          <a:prstGeom prst="parallelogram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D8BCDB-0C9A-432E-BE8B-7757A070D364}"/>
              </a:ext>
            </a:extLst>
          </p:cNvPr>
          <p:cNvSpPr/>
          <p:nvPr userDrawn="1"/>
        </p:nvSpPr>
        <p:spPr>
          <a:xfrm>
            <a:off x="480811" y="1133341"/>
            <a:ext cx="11230378" cy="54220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CA4EA9F-8A10-4364-8499-3D46AC6B354D}"/>
              </a:ext>
            </a:extLst>
          </p:cNvPr>
          <p:cNvSpPr txBox="1"/>
          <p:nvPr userDrawn="1"/>
        </p:nvSpPr>
        <p:spPr>
          <a:xfrm>
            <a:off x="3915391" y="513316"/>
            <a:ext cx="3743030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  <a:cs typeface="+mn-ea"/>
                <a:sym typeface="+mn-lt"/>
              </a:rPr>
              <a:t>点击输入您的标题</a:t>
            </a:r>
            <a:endParaRPr lang="zh-CN" altLang="en-US" sz="3200" dirty="0">
              <a:solidFill>
                <a:schemeClr val="bg1"/>
              </a:solidFill>
              <a:latin typeface="庞门正道标题体" panose="02010600030101010101" pitchFamily="2" charset="-122"/>
              <a:ea typeface="庞门正道标题体" panose="02010600030101010101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598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647B76-54BE-48AC-8AF3-DB592B9CA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7E4E3-178F-4850-8446-94DAB1DBF14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3534A6-5AD4-47A4-82AF-3E231CF2C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2471EC-C2BE-4F90-BF31-B93A8B87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E2EB7-589A-482F-BF82-CB1F6D8CF3F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863451E-FC5D-417C-AF42-6AE5A72FCEE4}"/>
              </a:ext>
            </a:extLst>
          </p:cNvPr>
          <p:cNvSpPr/>
          <p:nvPr userDrawn="1"/>
        </p:nvSpPr>
        <p:spPr>
          <a:xfrm flipH="1">
            <a:off x="480811" y="0"/>
            <a:ext cx="10947043" cy="6858000"/>
          </a:xfrm>
          <a:prstGeom prst="parallelogram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0C3AED-15C4-4C99-B36A-2E6A5E0A8DDF}"/>
              </a:ext>
            </a:extLst>
          </p:cNvPr>
          <p:cNvSpPr/>
          <p:nvPr userDrawn="1"/>
        </p:nvSpPr>
        <p:spPr>
          <a:xfrm>
            <a:off x="480811" y="1133341"/>
            <a:ext cx="11230378" cy="54220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3A4942CF-F8A7-4D05-99EB-606ADEF01186}"/>
              </a:ext>
            </a:extLst>
          </p:cNvPr>
          <p:cNvSpPr txBox="1"/>
          <p:nvPr userDrawn="1"/>
        </p:nvSpPr>
        <p:spPr>
          <a:xfrm>
            <a:off x="3915391" y="513316"/>
            <a:ext cx="3743030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  <a:cs typeface="+mn-ea"/>
                <a:sym typeface="+mn-lt"/>
              </a:rPr>
              <a:t>点击输入您的标题</a:t>
            </a:r>
            <a:endParaRPr lang="zh-CN" altLang="en-US" sz="3200" dirty="0">
              <a:solidFill>
                <a:schemeClr val="bg1"/>
              </a:solidFill>
              <a:latin typeface="庞门正道标题体" panose="02010600030101010101" pitchFamily="2" charset="-122"/>
              <a:ea typeface="庞门正道标题体" panose="02010600030101010101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566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36F95-C35C-444D-B8DA-D7B11D395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B86B41-FAB5-4856-8C7E-68896DED7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748909-DCAA-42C6-9B87-04157C875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13E668-83FB-442D-A267-9C9CD836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7E4E3-178F-4850-8446-94DAB1DBF14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CA9DE0-8A74-4D6E-BDEB-7F40C317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D85C68-8F8F-4628-83CC-34BBB80C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E2EB7-589A-482F-BF82-CB1F6D8CF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34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0ABF4A-3430-4016-8725-0CF7ED539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2C0D1F-BDBE-4E9E-85D3-5D0E13AEE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FC90FD-267E-4960-8E28-362CD5738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310132-01F5-42C9-81BA-EF380019F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7E4E3-178F-4850-8446-94DAB1DBF14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9E2DD1-8D34-45C7-A6DE-761A3D5F4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B3EF4E-4AF1-404F-8BAB-482B2B49A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E2EB7-589A-482F-BF82-CB1F6D8CF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40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251CE-5A91-4BF0-AB1A-F8114CF3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E78A98-C0C6-4DD6-8788-7B52F9848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66B1AB-B52F-4374-A738-FD4A9AD05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7E4E3-178F-4850-8446-94DAB1DBF14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A16FAC-DA09-4B7B-AB00-F7099F46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ED024F-BD0E-4DC6-9ACF-1C2C019C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E2EB7-589A-482F-BF82-CB1F6D8CF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75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2615DB-65EE-4292-AA5D-D62E1B9F56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35C58D-FF32-46F1-9307-90127344D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89507D-34B1-46FB-AF9B-A8AD98702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7E4E3-178F-4850-8446-94DAB1DBF14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F09BA7-D4C0-49BE-8FFA-91AE7718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2F0245-6C6F-4A25-A9B2-51BFF597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E2EB7-589A-482F-BF82-CB1F6D8CF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7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BA8FAE55-166F-4D32-969E-C65DDF30D161}"/>
              </a:ext>
            </a:extLst>
          </p:cNvPr>
          <p:cNvSpPr/>
          <p:nvPr userDrawn="1"/>
        </p:nvSpPr>
        <p:spPr>
          <a:xfrm flipH="1">
            <a:off x="480811" y="0"/>
            <a:ext cx="10947043" cy="6858000"/>
          </a:xfrm>
          <a:prstGeom prst="parallelogram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867362-63A8-4651-8F00-D0E31577F94F}"/>
              </a:ext>
            </a:extLst>
          </p:cNvPr>
          <p:cNvSpPr/>
          <p:nvPr userDrawn="1"/>
        </p:nvSpPr>
        <p:spPr>
          <a:xfrm>
            <a:off x="480811" y="1133341"/>
            <a:ext cx="11230378" cy="54220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620E696-0907-4A33-97E4-03AE41B3C535}"/>
              </a:ext>
            </a:extLst>
          </p:cNvPr>
          <p:cNvSpPr txBox="1"/>
          <p:nvPr userDrawn="1"/>
        </p:nvSpPr>
        <p:spPr>
          <a:xfrm>
            <a:off x="3915391" y="513316"/>
            <a:ext cx="3743030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  <a:cs typeface="+mn-ea"/>
                <a:sym typeface="+mn-lt"/>
              </a:rPr>
              <a:t>点击输入您的标题</a:t>
            </a:r>
            <a:endParaRPr lang="zh-CN" altLang="en-US" sz="3200" dirty="0">
              <a:solidFill>
                <a:schemeClr val="bg1"/>
              </a:solidFill>
              <a:latin typeface="庞门正道标题体" panose="02010600030101010101" pitchFamily="2" charset="-122"/>
              <a:ea typeface="庞门正道标题体" panose="02010600030101010101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303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877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0377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7003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442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821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030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15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624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17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013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070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BA8FAE55-166F-4D32-969E-C65DDF30D161}"/>
              </a:ext>
            </a:extLst>
          </p:cNvPr>
          <p:cNvSpPr/>
          <p:nvPr userDrawn="1"/>
        </p:nvSpPr>
        <p:spPr>
          <a:xfrm flipH="1">
            <a:off x="480811" y="0"/>
            <a:ext cx="10947043" cy="6858000"/>
          </a:xfrm>
          <a:prstGeom prst="parallelogram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867362-63A8-4651-8F00-D0E31577F94F}"/>
              </a:ext>
            </a:extLst>
          </p:cNvPr>
          <p:cNvSpPr/>
          <p:nvPr userDrawn="1"/>
        </p:nvSpPr>
        <p:spPr>
          <a:xfrm>
            <a:off x="480811" y="1133341"/>
            <a:ext cx="11230378" cy="54220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620E696-0907-4A33-97E4-03AE41B3C535}"/>
              </a:ext>
            </a:extLst>
          </p:cNvPr>
          <p:cNvSpPr txBox="1"/>
          <p:nvPr userDrawn="1"/>
        </p:nvSpPr>
        <p:spPr>
          <a:xfrm>
            <a:off x="3915391" y="513316"/>
            <a:ext cx="3743030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  <a:cs typeface="+mn-ea"/>
                <a:sym typeface="+mn-lt"/>
              </a:rPr>
              <a:t>点击输入您的标题</a:t>
            </a:r>
            <a:endParaRPr lang="zh-CN" altLang="en-US" sz="3200" dirty="0">
              <a:solidFill>
                <a:schemeClr val="bg1"/>
              </a:solidFill>
              <a:latin typeface="庞门正道标题体" panose="02010600030101010101" pitchFamily="2" charset="-122"/>
              <a:ea typeface="庞门正道标题体" panose="02010600030101010101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629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7A31C5-617B-4F31-AE92-E0C5FAB61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91F38A-F8D0-4D44-B8F3-09FB7841F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DC6DCC-5C34-4BFC-8CE9-7BAA57424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7E4E3-178F-4850-8446-94DAB1DBF14D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A9AE9C-05FE-4D42-BB19-DB9694AA0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EB83FB-5A5B-45ED-A73F-53389C22C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E2EB7-589A-482F-BF82-CB1F6D8CF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482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</p:sldLayoutIdLst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5EF9D-446A-4BA9-9A8F-8795C824CFA3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3604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33" r:id="rId12"/>
  </p:sldLayoutIdLst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themeOverride" Target="../theme/themeOverride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 descr="一張含有 球, 草, 運動配備, 棒球 的圖片&#10;&#10;自動產生的描述">
            <a:extLst>
              <a:ext uri="{FF2B5EF4-FFF2-40B4-BE49-F238E27FC236}">
                <a16:creationId xmlns:a16="http://schemas.microsoft.com/office/drawing/2014/main" id="{C43BC1BC-F3E7-B9B3-7A97-ECAD960DA2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-1"/>
          <a:stretch/>
        </p:blipFill>
        <p:spPr>
          <a:xfrm>
            <a:off x="5579706" y="-135092"/>
            <a:ext cx="6648982" cy="6857990"/>
          </a:xfrm>
          <a:prstGeom prst="rect">
            <a:avLst/>
          </a:prstGeom>
        </p:spPr>
      </p:pic>
      <p:sp>
        <p:nvSpPr>
          <p:cNvPr id="22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41C6D339-36D0-D1D2-350F-6FA8D5447BE1}"/>
              </a:ext>
            </a:extLst>
          </p:cNvPr>
          <p:cNvSpPr txBox="1">
            <a:spLocks/>
          </p:cNvSpPr>
          <p:nvPr/>
        </p:nvSpPr>
        <p:spPr>
          <a:xfrm>
            <a:off x="611718" y="690465"/>
            <a:ext cx="4874682" cy="28957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TW" altLang="en-US" sz="5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期末報告</a:t>
            </a:r>
            <a:r>
              <a:rPr lang="en-US" altLang="zh-TW" sz="56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_PCA</a:t>
            </a:r>
            <a:br>
              <a:rPr lang="en-US" altLang="zh-TW" sz="50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</a:br>
            <a:r>
              <a:rPr lang="en-US" altLang="zh-TW" sz="32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2012</a:t>
            </a:r>
            <a:r>
              <a:rPr lang="zh-TW" altLang="en-US" sz="32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年</a:t>
            </a:r>
            <a:r>
              <a:rPr lang="en-US" altLang="zh-TW" sz="32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MLB</a:t>
            </a:r>
            <a:r>
              <a:rPr lang="zh-TW" altLang="en-US" sz="32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資料為例</a:t>
            </a:r>
            <a:endParaRPr lang="en-US" altLang="zh-TW" sz="3200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B52189D8-3687-F741-E80D-05B6BF2055DF}"/>
              </a:ext>
            </a:extLst>
          </p:cNvPr>
          <p:cNvSpPr txBox="1">
            <a:spLocks/>
          </p:cNvSpPr>
          <p:nvPr/>
        </p:nvSpPr>
        <p:spPr>
          <a:xfrm>
            <a:off x="611718" y="3570874"/>
            <a:ext cx="4038402" cy="2234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TW" sz="2000" dirty="0">
                <a:latin typeface="+mn-lt"/>
                <a:ea typeface="+mn-ea"/>
                <a:cs typeface="+mn-cs"/>
              </a:rPr>
              <a:t>413145051 </a:t>
            </a:r>
            <a:r>
              <a:rPr lang="zh-TW" altLang="en-US" sz="2000" dirty="0">
                <a:latin typeface="+mn-lt"/>
                <a:ea typeface="+mn-ea"/>
                <a:cs typeface="+mn-cs"/>
              </a:rPr>
              <a:t>賴雅鈴</a:t>
            </a:r>
            <a:endParaRPr lang="en-US" altLang="zh-TW" sz="2000" dirty="0"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TW" sz="2000" dirty="0">
                <a:latin typeface="+mn-lt"/>
                <a:ea typeface="+mn-ea"/>
                <a:cs typeface="+mn-cs"/>
              </a:rPr>
              <a:t>   </a:t>
            </a:r>
            <a:r>
              <a:rPr lang="zh-TW" altLang="en-US" sz="2000" dirty="0">
                <a:latin typeface="+mn-lt"/>
                <a:ea typeface="+mn-ea"/>
                <a:cs typeface="+mn-cs"/>
              </a:rPr>
              <a:t>指導教授：蔡嘉仁教授</a:t>
            </a:r>
            <a:endParaRPr lang="en-US" altLang="zh-TW" sz="20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36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719D31A-13DF-693C-881D-744209EADC4D}"/>
              </a:ext>
            </a:extLst>
          </p:cNvPr>
          <p:cNvSpPr/>
          <p:nvPr/>
        </p:nvSpPr>
        <p:spPr>
          <a:xfrm>
            <a:off x="3716594" y="339213"/>
            <a:ext cx="4277032" cy="6931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本框 26">
            <a:extLst>
              <a:ext uri="{FF2B5EF4-FFF2-40B4-BE49-F238E27FC236}">
                <a16:creationId xmlns:a16="http://schemas.microsoft.com/office/drawing/2014/main" id="{63835C2A-2573-5B5C-188A-703899006F0E}"/>
              </a:ext>
            </a:extLst>
          </p:cNvPr>
          <p:cNvSpPr txBox="1"/>
          <p:nvPr/>
        </p:nvSpPr>
        <p:spPr>
          <a:xfrm>
            <a:off x="2664566" y="280451"/>
            <a:ext cx="50342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4000" b="1" dirty="0">
                <a:solidFill>
                  <a:schemeClr val="bg1"/>
                </a:solidFill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原始資料</a:t>
            </a: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70966F0-D2EA-68DB-8226-A9B7A0AC4015}"/>
              </a:ext>
            </a:extLst>
          </p:cNvPr>
          <p:cNvSpPr txBox="1"/>
          <p:nvPr/>
        </p:nvSpPr>
        <p:spPr>
          <a:xfrm>
            <a:off x="865239" y="1685781"/>
            <a:ext cx="799362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zh-TW" sz="2000" b="1" dirty="0">
                <a:solidFill>
                  <a:srgbClr val="3C404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資料集背景</a:t>
            </a:r>
            <a:endParaRPr lang="zh-TW" altLang="zh-TW" sz="20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000" dirty="0">
                <a:solidFill>
                  <a:srgbClr val="3C404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zh-TW" altLang="zh-TW" sz="2000" dirty="0">
                <a:solidFill>
                  <a:srgbClr val="3C404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此資料集包含</a:t>
            </a:r>
            <a:r>
              <a:rPr lang="en-US" altLang="zh-TW" sz="2000" dirty="0">
                <a:solidFill>
                  <a:srgbClr val="3C404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30 </a:t>
            </a:r>
            <a:r>
              <a:rPr lang="zh-TW" altLang="zh-TW" sz="2000" dirty="0">
                <a:solidFill>
                  <a:srgbClr val="3C404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支</a:t>
            </a:r>
            <a:r>
              <a:rPr lang="en-US" altLang="zh-TW" sz="2000" dirty="0">
                <a:solidFill>
                  <a:srgbClr val="3C404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MLB</a:t>
            </a:r>
            <a:r>
              <a:rPr lang="zh-TW" altLang="zh-TW" sz="2000" dirty="0">
                <a:solidFill>
                  <a:srgbClr val="3C404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球隊的</a:t>
            </a:r>
            <a:r>
              <a:rPr lang="en-US" altLang="zh-TW" sz="2000" dirty="0">
                <a:solidFill>
                  <a:srgbClr val="3C404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2012</a:t>
            </a:r>
            <a:r>
              <a:rPr lang="zh-TW" altLang="zh-TW" sz="2000" dirty="0">
                <a:solidFill>
                  <a:srgbClr val="3C404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賽季數據，涵蓋了比賽數、得分、安打數、全壘打、打點等多個指標。數據來源於公開的比賽統計資料。</a:t>
            </a:r>
            <a:endParaRPr lang="en-US" altLang="zh-TW" sz="2000" dirty="0">
              <a:solidFill>
                <a:srgbClr val="3C4043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endParaRPr kumimoji="0" lang="en-US" altLang="zh-TW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0" lang="en-US" altLang="zh-TW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en-US" sz="2000" b="1" i="0" u="none" strike="noStrike" cap="none" normalizeH="0" baseline="0" dirty="0">
                <a:ln>
                  <a:noFill/>
                </a:ln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研究目的</a:t>
            </a:r>
            <a:endParaRPr kumimoji="0" lang="en-US" altLang="zh-TW" sz="2000" b="1" i="0" u="none" strike="noStrike" cap="none" normalizeH="0" baseline="0" dirty="0">
              <a:ln>
                <a:noFill/>
              </a:ln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zh-TW" altLang="en-US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希望透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過數據分析了解球隊的表現特徵與影響比賽勝率的關鍵因素</a:t>
            </a:r>
            <a:r>
              <a:rPr lang="zh-TW" altLang="en-US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，提供</a:t>
            </a:r>
            <a:r>
              <a:rPr lang="zh-TW" altLang="zh-TW" sz="20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球隊</a:t>
            </a:r>
            <a:r>
              <a:rPr lang="zh-TW" altLang="en-US" sz="20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作為</a:t>
            </a:r>
            <a:r>
              <a:rPr lang="zh-TW" altLang="zh-TW" sz="20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管理與策略優化的參考依據</a:t>
            </a:r>
            <a:r>
              <a:rPr lang="zh-TW" altLang="en-US" sz="20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20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356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5">
            <a:extLst>
              <a:ext uri="{FF2B5EF4-FFF2-40B4-BE49-F238E27FC236}">
                <a16:creationId xmlns:a16="http://schemas.microsoft.com/office/drawing/2014/main" id="{DCBF1EF3-6A6B-4A3D-8715-BBB7364FC01D}"/>
              </a:ext>
            </a:extLst>
          </p:cNvPr>
          <p:cNvSpPr/>
          <p:nvPr/>
        </p:nvSpPr>
        <p:spPr>
          <a:xfrm rot="19677237">
            <a:off x="8209174" y="-1755163"/>
            <a:ext cx="2372507" cy="10302129"/>
          </a:xfrm>
          <a:custGeom>
            <a:avLst/>
            <a:gdLst>
              <a:gd name="connsiteX0" fmla="*/ 0 w 2418860"/>
              <a:gd name="connsiteY0" fmla="*/ 10340419 h 10340419"/>
              <a:gd name="connsiteX1" fmla="*/ 604715 w 2418860"/>
              <a:gd name="connsiteY1" fmla="*/ 0 h 10340419"/>
              <a:gd name="connsiteX2" fmla="*/ 2418860 w 2418860"/>
              <a:gd name="connsiteY2" fmla="*/ 0 h 10340419"/>
              <a:gd name="connsiteX3" fmla="*/ 1814145 w 2418860"/>
              <a:gd name="connsiteY3" fmla="*/ 10340419 h 10340419"/>
              <a:gd name="connsiteX4" fmla="*/ 0 w 2418860"/>
              <a:gd name="connsiteY4" fmla="*/ 10340419 h 10340419"/>
              <a:gd name="connsiteX0" fmla="*/ 0 w 2349789"/>
              <a:gd name="connsiteY0" fmla="*/ 10340419 h 10340419"/>
              <a:gd name="connsiteX1" fmla="*/ 604715 w 2349789"/>
              <a:gd name="connsiteY1" fmla="*/ 0 h 10340419"/>
              <a:gd name="connsiteX2" fmla="*/ 2349789 w 2349789"/>
              <a:gd name="connsiteY2" fmla="*/ 1189637 h 10340419"/>
              <a:gd name="connsiteX3" fmla="*/ 1814145 w 2349789"/>
              <a:gd name="connsiteY3" fmla="*/ 10340419 h 10340419"/>
              <a:gd name="connsiteX4" fmla="*/ 0 w 2349789"/>
              <a:gd name="connsiteY4" fmla="*/ 10340419 h 10340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9789" h="10340419">
                <a:moveTo>
                  <a:pt x="0" y="10340419"/>
                </a:moveTo>
                <a:lnTo>
                  <a:pt x="604715" y="0"/>
                </a:lnTo>
                <a:lnTo>
                  <a:pt x="2349789" y="1189637"/>
                </a:lnTo>
                <a:lnTo>
                  <a:pt x="1814145" y="10340419"/>
                </a:lnTo>
                <a:lnTo>
                  <a:pt x="0" y="1034041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EC5B824-5D9E-4ABE-81D7-01D6C5BD07F2}"/>
              </a:ext>
            </a:extLst>
          </p:cNvPr>
          <p:cNvCxnSpPr>
            <a:cxnSpLocks/>
          </p:cNvCxnSpPr>
          <p:nvPr/>
        </p:nvCxnSpPr>
        <p:spPr>
          <a:xfrm flipH="1" flipV="1">
            <a:off x="4345004" y="245474"/>
            <a:ext cx="1600176" cy="2164976"/>
          </a:xfrm>
          <a:prstGeom prst="line">
            <a:avLst/>
          </a:prstGeom>
          <a:ln w="920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A93A781B-5B49-496D-B8E0-676560A08BB8}"/>
              </a:ext>
            </a:extLst>
          </p:cNvPr>
          <p:cNvSpPr/>
          <p:nvPr/>
        </p:nvSpPr>
        <p:spPr>
          <a:xfrm>
            <a:off x="0" y="4344337"/>
            <a:ext cx="2003612" cy="2487706"/>
          </a:xfrm>
          <a:prstGeom prst="rtTriangle">
            <a:avLst/>
          </a:prstGeom>
          <a:noFill/>
          <a:ln w="1587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庞门正道标题体" panose="02010600030101010101" pitchFamily="2" charset="-122"/>
              <a:ea typeface="庞门正道标题体" panose="02010600030101010101" pitchFamily="2" charset="-122"/>
            </a:endParaRPr>
          </a:p>
        </p:txBody>
      </p:sp>
      <p:sp>
        <p:nvSpPr>
          <p:cNvPr id="12" name="矩形 4">
            <a:extLst>
              <a:ext uri="{FF2B5EF4-FFF2-40B4-BE49-F238E27FC236}">
                <a16:creationId xmlns:a16="http://schemas.microsoft.com/office/drawing/2014/main" id="{7F75B393-85DE-4D0C-B596-E619C3B7E90F}"/>
              </a:ext>
            </a:extLst>
          </p:cNvPr>
          <p:cNvSpPr/>
          <p:nvPr/>
        </p:nvSpPr>
        <p:spPr>
          <a:xfrm>
            <a:off x="5674636" y="1653988"/>
            <a:ext cx="6517364" cy="3550024"/>
          </a:xfrm>
          <a:custGeom>
            <a:avLst/>
            <a:gdLst>
              <a:gd name="connsiteX0" fmla="*/ 0 w 6517364"/>
              <a:gd name="connsiteY0" fmla="*/ 0 h 3509682"/>
              <a:gd name="connsiteX1" fmla="*/ 6517364 w 6517364"/>
              <a:gd name="connsiteY1" fmla="*/ 0 h 3509682"/>
              <a:gd name="connsiteX2" fmla="*/ 6517364 w 6517364"/>
              <a:gd name="connsiteY2" fmla="*/ 3509682 h 3509682"/>
              <a:gd name="connsiteX3" fmla="*/ 0 w 6517364"/>
              <a:gd name="connsiteY3" fmla="*/ 3509682 h 3509682"/>
              <a:gd name="connsiteX4" fmla="*/ 0 w 6517364"/>
              <a:gd name="connsiteY4" fmla="*/ 0 h 3509682"/>
              <a:gd name="connsiteX0" fmla="*/ 0 w 6517364"/>
              <a:gd name="connsiteY0" fmla="*/ 0 h 3550024"/>
              <a:gd name="connsiteX1" fmla="*/ 6517364 w 6517364"/>
              <a:gd name="connsiteY1" fmla="*/ 0 h 3550024"/>
              <a:gd name="connsiteX2" fmla="*/ 6517364 w 6517364"/>
              <a:gd name="connsiteY2" fmla="*/ 3509682 h 3550024"/>
              <a:gd name="connsiteX3" fmla="*/ 2702859 w 6517364"/>
              <a:gd name="connsiteY3" fmla="*/ 3550024 h 3550024"/>
              <a:gd name="connsiteX4" fmla="*/ 0 w 6517364"/>
              <a:gd name="connsiteY4" fmla="*/ 0 h 3550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17364" h="3550024">
                <a:moveTo>
                  <a:pt x="0" y="0"/>
                </a:moveTo>
                <a:lnTo>
                  <a:pt x="6517364" y="0"/>
                </a:lnTo>
                <a:lnTo>
                  <a:pt x="6517364" y="3509682"/>
                </a:lnTo>
                <a:lnTo>
                  <a:pt x="2702859" y="35500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庞门正道标题体" panose="02010600030101010101" pitchFamily="2" charset="-122"/>
              <a:ea typeface="庞门正道标题体" panose="02010600030101010101" pitchFamily="2" charset="-122"/>
            </a:endParaRPr>
          </a:p>
        </p:txBody>
      </p:sp>
      <p:sp>
        <p:nvSpPr>
          <p:cNvPr id="13" name="平行四边形 5">
            <a:extLst>
              <a:ext uri="{FF2B5EF4-FFF2-40B4-BE49-F238E27FC236}">
                <a16:creationId xmlns:a16="http://schemas.microsoft.com/office/drawing/2014/main" id="{AAB521C4-1CF0-4511-B0C2-AD18C767F729}"/>
              </a:ext>
            </a:extLst>
          </p:cNvPr>
          <p:cNvSpPr/>
          <p:nvPr/>
        </p:nvSpPr>
        <p:spPr>
          <a:xfrm rot="19657733">
            <a:off x="9867832" y="-909997"/>
            <a:ext cx="1660626" cy="3972896"/>
          </a:xfrm>
          <a:custGeom>
            <a:avLst/>
            <a:gdLst>
              <a:gd name="connsiteX0" fmla="*/ 0 w 2418860"/>
              <a:gd name="connsiteY0" fmla="*/ 10340419 h 10340419"/>
              <a:gd name="connsiteX1" fmla="*/ 604715 w 2418860"/>
              <a:gd name="connsiteY1" fmla="*/ 0 h 10340419"/>
              <a:gd name="connsiteX2" fmla="*/ 2418860 w 2418860"/>
              <a:gd name="connsiteY2" fmla="*/ 0 h 10340419"/>
              <a:gd name="connsiteX3" fmla="*/ 1814145 w 2418860"/>
              <a:gd name="connsiteY3" fmla="*/ 10340419 h 10340419"/>
              <a:gd name="connsiteX4" fmla="*/ 0 w 2418860"/>
              <a:gd name="connsiteY4" fmla="*/ 10340419 h 10340419"/>
              <a:gd name="connsiteX0" fmla="*/ 0 w 2349789"/>
              <a:gd name="connsiteY0" fmla="*/ 10340419 h 10340419"/>
              <a:gd name="connsiteX1" fmla="*/ 604715 w 2349789"/>
              <a:gd name="connsiteY1" fmla="*/ 0 h 10340419"/>
              <a:gd name="connsiteX2" fmla="*/ 2349789 w 2349789"/>
              <a:gd name="connsiteY2" fmla="*/ 1189637 h 10340419"/>
              <a:gd name="connsiteX3" fmla="*/ 1814145 w 2349789"/>
              <a:gd name="connsiteY3" fmla="*/ 10340419 h 10340419"/>
              <a:gd name="connsiteX4" fmla="*/ 0 w 2349789"/>
              <a:gd name="connsiteY4" fmla="*/ 10340419 h 10340419"/>
              <a:gd name="connsiteX0" fmla="*/ -1 w 2276648"/>
              <a:gd name="connsiteY0" fmla="*/ 8412519 h 10340419"/>
              <a:gd name="connsiteX1" fmla="*/ 531574 w 2276648"/>
              <a:gd name="connsiteY1" fmla="*/ 0 h 10340419"/>
              <a:gd name="connsiteX2" fmla="*/ 2276648 w 2276648"/>
              <a:gd name="connsiteY2" fmla="*/ 1189637 h 10340419"/>
              <a:gd name="connsiteX3" fmla="*/ 1741004 w 2276648"/>
              <a:gd name="connsiteY3" fmla="*/ 10340419 h 10340419"/>
              <a:gd name="connsiteX4" fmla="*/ -1 w 2276648"/>
              <a:gd name="connsiteY4" fmla="*/ 8412519 h 10340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6648" h="10340419">
                <a:moveTo>
                  <a:pt x="-1" y="8412519"/>
                </a:moveTo>
                <a:lnTo>
                  <a:pt x="531574" y="0"/>
                </a:lnTo>
                <a:lnTo>
                  <a:pt x="2276648" y="1189637"/>
                </a:lnTo>
                <a:lnTo>
                  <a:pt x="1741004" y="10340419"/>
                </a:lnTo>
                <a:lnTo>
                  <a:pt x="-1" y="841251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题层">
            <a:extLst>
              <a:ext uri="{FF2B5EF4-FFF2-40B4-BE49-F238E27FC236}">
                <a16:creationId xmlns:a16="http://schemas.microsoft.com/office/drawing/2014/main" id="{9CE4214D-C7D9-4027-97DA-FEBD30773F9B}"/>
              </a:ext>
            </a:extLst>
          </p:cNvPr>
          <p:cNvSpPr txBox="1"/>
          <p:nvPr/>
        </p:nvSpPr>
        <p:spPr bwMode="auto">
          <a:xfrm>
            <a:off x="7684409" y="2659595"/>
            <a:ext cx="4145290" cy="1630961"/>
          </a:xfrm>
          <a:prstGeom prst="rect">
            <a:avLst/>
          </a:prstGeom>
          <a:noFill/>
          <a:effectLst/>
        </p:spPr>
        <p:txBody>
          <a:bodyPr wrap="square" lIns="121670" tIns="60834" rIns="121670" bIns="60834">
            <a:spAutoFit/>
          </a:bodyPr>
          <a:lstStyle/>
          <a:p>
            <a:pPr algn="ctr" defTabSz="1216660">
              <a:defRPr/>
            </a:pPr>
            <a:r>
              <a:rPr lang="zh-CN" altLang="en-US" sz="5400" b="1" kern="0" dirty="0">
                <a:solidFill>
                  <a:schemeClr val="bg1"/>
                </a:solidFill>
                <a:latin typeface="Lantinghei SC Heavy" panose="02000000000000000000" pitchFamily="2" charset="-122"/>
                <a:ea typeface="Lantinghei SC Heavy" panose="02000000000000000000" pitchFamily="2" charset="-122"/>
                <a:cs typeface="Arial" panose="020B0604020202020204" pitchFamily="34" charset="0"/>
              </a:rPr>
              <a:t>內容</a:t>
            </a:r>
            <a:endParaRPr lang="en-US" altLang="zh-CN" sz="5400" b="1" kern="0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Arial" panose="020B0604020202020204" pitchFamily="34" charset="0"/>
            </a:endParaRPr>
          </a:p>
          <a:p>
            <a:pPr algn="ctr" defTabSz="1216660">
              <a:defRPr/>
            </a:pPr>
            <a:r>
              <a:rPr lang="en-US" altLang="zh-CN" sz="4000" b="1" kern="0" dirty="0">
                <a:solidFill>
                  <a:schemeClr val="bg1"/>
                </a:solidFill>
                <a:latin typeface="Lantinghei SC Heavy" panose="02000000000000000000" pitchFamily="2" charset="-122"/>
                <a:ea typeface="Lantinghei SC Heavy" panose="02000000000000000000" pitchFamily="2" charset="-122"/>
                <a:cs typeface="Arial" panose="020B0604020202020204" pitchFamily="34" charset="0"/>
              </a:rPr>
              <a:t>Content</a:t>
            </a:r>
            <a:endParaRPr lang="zh-CN" altLang="en-US" sz="4000" b="1" kern="0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Arial" panose="020B0604020202020204" pitchFamily="34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3AE1CD6-3949-436B-9C98-8499DDCE5C98}"/>
              </a:ext>
            </a:extLst>
          </p:cNvPr>
          <p:cNvGrpSpPr/>
          <p:nvPr/>
        </p:nvGrpSpPr>
        <p:grpSpPr>
          <a:xfrm>
            <a:off x="1870045" y="2251341"/>
            <a:ext cx="551180" cy="587865"/>
            <a:chOff x="7335520" y="-437099"/>
            <a:chExt cx="914400" cy="975261"/>
          </a:xfrm>
          <a:solidFill>
            <a:schemeClr val="tx1"/>
          </a:solidFill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34861A8-E75B-4233-8068-BAC18FE09FD3}"/>
                </a:ext>
              </a:extLst>
            </p:cNvPr>
            <p:cNvSpPr/>
            <p:nvPr/>
          </p:nvSpPr>
          <p:spPr>
            <a:xfrm>
              <a:off x="7335520" y="-437099"/>
              <a:ext cx="914400" cy="741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庞门正道标题体" panose="02010600030101010101" pitchFamily="2" charset="-122"/>
                  <a:ea typeface="庞门正道标题体" panose="02010600030101010101" pitchFamily="2" charset="-122"/>
                  <a:cs typeface="Dubai Medium" panose="020B0604020202020204" pitchFamily="34" charset="-78"/>
                </a:rPr>
                <a:t>1</a:t>
              </a:r>
              <a:endParaRPr lang="zh-CN" altLang="en-US" sz="3200" dirty="0">
                <a:solidFill>
                  <a:schemeClr val="bg1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  <a:cs typeface="Dubai Medium" panose="020B0604020202020204" pitchFamily="34" charset="-78"/>
              </a:endParaRPr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B2905214-977D-4E0F-ADC6-49FFE1A88664}"/>
                </a:ext>
              </a:extLst>
            </p:cNvPr>
            <p:cNvSpPr/>
            <p:nvPr/>
          </p:nvSpPr>
          <p:spPr>
            <a:xfrm rot="10800000">
              <a:off x="7335520" y="304799"/>
              <a:ext cx="914400" cy="23336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  <a:cs typeface="Dubai Medium" panose="020B0604020202020204" pitchFamily="34" charset="-78"/>
              </a:endParaRPr>
            </a:p>
          </p:txBody>
        </p:sp>
      </p:grpSp>
      <p:sp>
        <p:nvSpPr>
          <p:cNvPr id="21" name="PA-文本框 10">
            <a:extLst>
              <a:ext uri="{FF2B5EF4-FFF2-40B4-BE49-F238E27FC236}">
                <a16:creationId xmlns:a16="http://schemas.microsoft.com/office/drawing/2014/main" id="{EA3B644A-CE30-45F3-893F-DEF8369F03C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81153" y="2195843"/>
            <a:ext cx="3254390" cy="597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庞门正道标题体" panose="02010600030101010101" pitchFamily="2" charset="-122"/>
                <a:ea typeface="庞门正道标题体" panose="02010600030101010101" pitchFamily="2" charset="-122"/>
              </a:rPr>
              <a:t>變數資料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C9C6919-3ECC-4C87-9991-C64A274BD248}"/>
              </a:ext>
            </a:extLst>
          </p:cNvPr>
          <p:cNvGrpSpPr/>
          <p:nvPr/>
        </p:nvGrpSpPr>
        <p:grpSpPr>
          <a:xfrm>
            <a:off x="1863508" y="3475075"/>
            <a:ext cx="551180" cy="587865"/>
            <a:chOff x="7335520" y="-437099"/>
            <a:chExt cx="914400" cy="975261"/>
          </a:xfrm>
          <a:solidFill>
            <a:schemeClr val="tx1"/>
          </a:solidFill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DC5FA5E-1453-4217-8F3A-FECEB1F7D7F2}"/>
                </a:ext>
              </a:extLst>
            </p:cNvPr>
            <p:cNvSpPr/>
            <p:nvPr/>
          </p:nvSpPr>
          <p:spPr>
            <a:xfrm>
              <a:off x="7335520" y="-437099"/>
              <a:ext cx="914400" cy="741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庞门正道标题体" panose="02010600030101010101" pitchFamily="2" charset="-122"/>
                  <a:ea typeface="庞门正道标题体" panose="02010600030101010101" pitchFamily="2" charset="-122"/>
                  <a:cs typeface="Dubai Medium" panose="020B0604020202020204" pitchFamily="34" charset="-78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  <a:cs typeface="Dubai Medium" panose="020B0604020202020204" pitchFamily="34" charset="-78"/>
              </a:endParaRPr>
            </a:p>
          </p:txBody>
        </p:sp>
        <p:sp>
          <p:nvSpPr>
            <p:cNvPr id="25" name="等腰三角形 24">
              <a:extLst>
                <a:ext uri="{FF2B5EF4-FFF2-40B4-BE49-F238E27FC236}">
                  <a16:creationId xmlns:a16="http://schemas.microsoft.com/office/drawing/2014/main" id="{0DB5D754-1AEB-4103-B807-588F55FBC79B}"/>
                </a:ext>
              </a:extLst>
            </p:cNvPr>
            <p:cNvSpPr/>
            <p:nvPr/>
          </p:nvSpPr>
          <p:spPr>
            <a:xfrm rot="10800000">
              <a:off x="7335520" y="304799"/>
              <a:ext cx="914400" cy="23336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  <a:cs typeface="Dubai Medium" panose="020B0604020202020204" pitchFamily="34" charset="-78"/>
              </a:endParaRPr>
            </a:p>
          </p:txBody>
        </p:sp>
      </p:grpSp>
      <p:sp>
        <p:nvSpPr>
          <p:cNvPr id="26" name="PA-文本框 10">
            <a:extLst>
              <a:ext uri="{FF2B5EF4-FFF2-40B4-BE49-F238E27FC236}">
                <a16:creationId xmlns:a16="http://schemas.microsoft.com/office/drawing/2014/main" id="{19EF5930-5AA1-413C-B5CC-374DC28C02C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627946" y="3296009"/>
            <a:ext cx="7981357" cy="95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2800" b="1" dirty="0">
                <a:latin typeface="庞门正道标题体" panose="02010600030101010101" pitchFamily="2" charset="-122"/>
                <a:ea typeface="庞门正道标题体" panose="02010600030101010101" pitchFamily="2" charset="-122"/>
              </a:rPr>
              <a:t>統計分析方法</a:t>
            </a:r>
            <a:endParaRPr lang="en-US" altLang="zh-CN" sz="2800" b="1" dirty="0">
              <a:latin typeface="庞门正道标题体" panose="02010600030101010101" pitchFamily="2" charset="-122"/>
              <a:ea typeface="庞门正道标题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700" dirty="0">
                <a:latin typeface="庞门正道标题体" panose="02010600030101010101" pitchFamily="2" charset="-122"/>
                <a:ea typeface="庞门正道标题体" panose="02010600030101010101" pitchFamily="2" charset="-122"/>
              </a:rPr>
              <a:t>( </a:t>
            </a:r>
            <a:r>
              <a:rPr lang="en-US" altLang="zh-TW" sz="1700" dirty="0">
                <a:latin typeface="庞门正道标题体" panose="02010600030101010101" pitchFamily="2" charset="-122"/>
                <a:ea typeface="庞门正道标题体" panose="02010600030101010101" pitchFamily="2" charset="-122"/>
              </a:rPr>
              <a:t>PCA</a:t>
            </a:r>
            <a:r>
              <a:rPr lang="zh-TW" altLang="en-US" sz="1700" dirty="0">
                <a:latin typeface="庞门正道标题体" panose="02010600030101010101" pitchFamily="2" charset="-122"/>
                <a:ea typeface="庞门正道标题体" panose="02010600030101010101" pitchFamily="2" charset="-122"/>
              </a:rPr>
              <a:t>、聚類分析、逐步迴歸 </a:t>
            </a:r>
            <a:r>
              <a:rPr lang="en-US" altLang="zh-TW" sz="1700" dirty="0">
                <a:latin typeface="庞门正道标题体" panose="02010600030101010101" pitchFamily="2" charset="-122"/>
                <a:ea typeface="庞门正道标题体" panose="02010600030101010101" pitchFamily="2" charset="-122"/>
              </a:rPr>
              <a:t>)</a:t>
            </a:r>
            <a:endParaRPr lang="zh-CN" altLang="en-US" sz="1700" dirty="0">
              <a:latin typeface="庞门正道标题体" panose="02010600030101010101" pitchFamily="2" charset="-122"/>
              <a:ea typeface="庞门正道标题体" panose="02010600030101010101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7B82CDB-F164-46DF-BEBF-9EF291FB7156}"/>
              </a:ext>
            </a:extLst>
          </p:cNvPr>
          <p:cNvGrpSpPr/>
          <p:nvPr/>
        </p:nvGrpSpPr>
        <p:grpSpPr>
          <a:xfrm>
            <a:off x="1886237" y="4698809"/>
            <a:ext cx="551180" cy="587865"/>
            <a:chOff x="7335520" y="-437099"/>
            <a:chExt cx="914400" cy="975261"/>
          </a:xfrm>
          <a:solidFill>
            <a:schemeClr val="tx1"/>
          </a:solidFill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182323F-D19E-4DB1-B445-7F2A78900804}"/>
                </a:ext>
              </a:extLst>
            </p:cNvPr>
            <p:cNvSpPr/>
            <p:nvPr/>
          </p:nvSpPr>
          <p:spPr>
            <a:xfrm>
              <a:off x="7335520" y="-437099"/>
              <a:ext cx="914400" cy="741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庞门正道标题体" panose="02010600030101010101" pitchFamily="2" charset="-122"/>
                  <a:ea typeface="庞门正道标题体" panose="02010600030101010101" pitchFamily="2" charset="-122"/>
                  <a:cs typeface="Dubai Medium" panose="020B0604020202020204" pitchFamily="34" charset="-78"/>
                </a:rPr>
                <a:t>3</a:t>
              </a:r>
              <a:endParaRPr lang="zh-CN" altLang="en-US" sz="3200" dirty="0">
                <a:solidFill>
                  <a:schemeClr val="bg1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  <a:cs typeface="Dubai Medium" panose="020B0604020202020204" pitchFamily="34" charset="-78"/>
              </a:endParaRPr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D3DB1982-3CE0-4A00-B8C1-B645209980E0}"/>
                </a:ext>
              </a:extLst>
            </p:cNvPr>
            <p:cNvSpPr/>
            <p:nvPr/>
          </p:nvSpPr>
          <p:spPr>
            <a:xfrm rot="10800000">
              <a:off x="7335520" y="304799"/>
              <a:ext cx="914400" cy="23336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  <a:cs typeface="Dubai Medium" panose="020B0604020202020204" pitchFamily="34" charset="-78"/>
              </a:endParaRPr>
            </a:p>
          </p:txBody>
        </p:sp>
      </p:grpSp>
      <p:sp>
        <p:nvSpPr>
          <p:cNvPr id="36" name="PA-文本框 10">
            <a:extLst>
              <a:ext uri="{FF2B5EF4-FFF2-40B4-BE49-F238E27FC236}">
                <a16:creationId xmlns:a16="http://schemas.microsoft.com/office/drawing/2014/main" id="{EF246DF8-5167-4B0A-85F6-024043F837D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627946" y="4637270"/>
            <a:ext cx="3254390" cy="597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庞门正道标题体" panose="02010600030101010101" pitchFamily="2" charset="-122"/>
                <a:ea typeface="庞门正道标题体" panose="02010600030101010101" pitchFamily="2" charset="-122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2237655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2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4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90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6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DBD170A-F3B8-40F4-A2D3-EA6121288AE2}"/>
              </a:ext>
            </a:extLst>
          </p:cNvPr>
          <p:cNvGrpSpPr/>
          <p:nvPr/>
        </p:nvGrpSpPr>
        <p:grpSpPr>
          <a:xfrm flipH="1">
            <a:off x="0" y="0"/>
            <a:ext cx="11997170" cy="7521903"/>
            <a:chOff x="194825" y="-25758"/>
            <a:chExt cx="11997170" cy="7521903"/>
          </a:xfrm>
        </p:grpSpPr>
        <p:sp>
          <p:nvSpPr>
            <p:cNvPr id="5" name="平行四边形 3">
              <a:extLst>
                <a:ext uri="{FF2B5EF4-FFF2-40B4-BE49-F238E27FC236}">
                  <a16:creationId xmlns:a16="http://schemas.microsoft.com/office/drawing/2014/main" id="{DD5FB1E1-0FE6-469A-AEAD-7C10AF30F9EC}"/>
                </a:ext>
              </a:extLst>
            </p:cNvPr>
            <p:cNvSpPr/>
            <p:nvPr/>
          </p:nvSpPr>
          <p:spPr>
            <a:xfrm flipH="1">
              <a:off x="194825" y="-25758"/>
              <a:ext cx="5012144" cy="6883758"/>
            </a:xfrm>
            <a:custGeom>
              <a:avLst/>
              <a:gdLst>
                <a:gd name="connsiteX0" fmla="*/ 0 w 4211392"/>
                <a:gd name="connsiteY0" fmla="*/ 6858000 h 6858000"/>
                <a:gd name="connsiteX1" fmla="*/ 1052848 w 4211392"/>
                <a:gd name="connsiteY1" fmla="*/ 0 h 6858000"/>
                <a:gd name="connsiteX2" fmla="*/ 4211392 w 4211392"/>
                <a:gd name="connsiteY2" fmla="*/ 0 h 6858000"/>
                <a:gd name="connsiteX3" fmla="*/ 3158544 w 4211392"/>
                <a:gd name="connsiteY3" fmla="*/ 6858000 h 6858000"/>
                <a:gd name="connsiteX4" fmla="*/ 0 w 4211392"/>
                <a:gd name="connsiteY4" fmla="*/ 6858000 h 6858000"/>
                <a:gd name="connsiteX0" fmla="*/ 0 w 4211392"/>
                <a:gd name="connsiteY0" fmla="*/ 6883758 h 6883758"/>
                <a:gd name="connsiteX1" fmla="*/ 1696792 w 4211392"/>
                <a:gd name="connsiteY1" fmla="*/ 0 h 6883758"/>
                <a:gd name="connsiteX2" fmla="*/ 4211392 w 4211392"/>
                <a:gd name="connsiteY2" fmla="*/ 25758 h 6883758"/>
                <a:gd name="connsiteX3" fmla="*/ 3158544 w 4211392"/>
                <a:gd name="connsiteY3" fmla="*/ 6883758 h 6883758"/>
                <a:gd name="connsiteX4" fmla="*/ 0 w 4211392"/>
                <a:gd name="connsiteY4" fmla="*/ 6883758 h 6883758"/>
                <a:gd name="connsiteX0" fmla="*/ 0 w 4211392"/>
                <a:gd name="connsiteY0" fmla="*/ 6883758 h 6883758"/>
                <a:gd name="connsiteX1" fmla="*/ 1696792 w 4211392"/>
                <a:gd name="connsiteY1" fmla="*/ 0 h 6883758"/>
                <a:gd name="connsiteX2" fmla="*/ 4211392 w 4211392"/>
                <a:gd name="connsiteY2" fmla="*/ 25758 h 6883758"/>
                <a:gd name="connsiteX3" fmla="*/ 2720663 w 4211392"/>
                <a:gd name="connsiteY3" fmla="*/ 6883758 h 6883758"/>
                <a:gd name="connsiteX4" fmla="*/ 0 w 4211392"/>
                <a:gd name="connsiteY4" fmla="*/ 6883758 h 6883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11392" h="6883758">
                  <a:moveTo>
                    <a:pt x="0" y="6883758"/>
                  </a:moveTo>
                  <a:lnTo>
                    <a:pt x="1696792" y="0"/>
                  </a:lnTo>
                  <a:lnTo>
                    <a:pt x="4211392" y="25758"/>
                  </a:lnTo>
                  <a:lnTo>
                    <a:pt x="2720663" y="6883758"/>
                  </a:lnTo>
                  <a:lnTo>
                    <a:pt x="0" y="688375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14A067C-54E1-4A30-82A6-00091A18C3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258" b="-5258"/>
            <a:stretch/>
          </p:blipFill>
          <p:spPr>
            <a:xfrm flipH="1">
              <a:off x="319205" y="2009745"/>
              <a:ext cx="6129270" cy="5486400"/>
            </a:xfrm>
            <a:prstGeom prst="rect">
              <a:avLst/>
            </a:prstGeom>
          </p:spPr>
        </p:pic>
        <p:sp>
          <p:nvSpPr>
            <p:cNvPr id="7" name="直角三角形 6">
              <a:extLst>
                <a:ext uri="{FF2B5EF4-FFF2-40B4-BE49-F238E27FC236}">
                  <a16:creationId xmlns:a16="http://schemas.microsoft.com/office/drawing/2014/main" id="{D35444C3-A53E-4F60-8B29-A40A1350DE66}"/>
                </a:ext>
              </a:extLst>
            </p:cNvPr>
            <p:cNvSpPr/>
            <p:nvPr/>
          </p:nvSpPr>
          <p:spPr>
            <a:xfrm flipH="1" flipV="1">
              <a:off x="10457645" y="-6"/>
              <a:ext cx="1734350" cy="5022767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963C1AD6-C318-4C01-BB21-95F63B588A71}"/>
              </a:ext>
            </a:extLst>
          </p:cNvPr>
          <p:cNvSpPr txBox="1"/>
          <p:nvPr/>
        </p:nvSpPr>
        <p:spPr>
          <a:xfrm>
            <a:off x="1748076" y="2597464"/>
            <a:ext cx="2611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庞门正道标题体" panose="02010600030101010101" pitchFamily="2" charset="-122"/>
                <a:ea typeface="庞门正道标题体" panose="02010600030101010101" pitchFamily="2" charset="-122"/>
              </a:rPr>
              <a:t>PART ONE</a:t>
            </a:r>
            <a:endParaRPr lang="zh-CN" altLang="en-US" sz="3600" dirty="0">
              <a:latin typeface="庞门正道标题体" panose="02010600030101010101" pitchFamily="2" charset="-122"/>
              <a:ea typeface="庞门正道标题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B7FC30-6145-47D2-AB2C-62DE99D527A0}"/>
              </a:ext>
            </a:extLst>
          </p:cNvPr>
          <p:cNvSpPr txBox="1"/>
          <p:nvPr/>
        </p:nvSpPr>
        <p:spPr>
          <a:xfrm>
            <a:off x="1754228" y="342900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Lantinghei SC Heavy" panose="02000000000000000000" pitchFamily="2" charset="-122"/>
                <a:ea typeface="Lantinghei SC Heavy" panose="02000000000000000000" pitchFamily="2" charset="-122"/>
              </a:rPr>
              <a:t>變數資料</a:t>
            </a:r>
          </a:p>
        </p:txBody>
      </p:sp>
    </p:spTree>
    <p:extLst>
      <p:ext uri="{BB962C8B-B14F-4D97-AF65-F5344CB8AC3E}">
        <p14:creationId xmlns:p14="http://schemas.microsoft.com/office/powerpoint/2010/main" val="3490352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ECC7B-B3FB-FFA2-3681-D71B27571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E166FDF0-2D84-1196-53C3-3F463797C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E988383D-F1E7-BC5A-689C-50AC63945553}"/>
              </a:ext>
            </a:extLst>
          </p:cNvPr>
          <p:cNvSpPr txBox="1"/>
          <p:nvPr/>
        </p:nvSpPr>
        <p:spPr>
          <a:xfrm>
            <a:off x="2684886" y="301619"/>
            <a:ext cx="50342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敘述型統計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4" name="圖片 3" descr="一張含有 文字, 字型, 數字, 行 的圖片&#10;&#10;自動產生的描述">
            <a:extLst>
              <a:ext uri="{FF2B5EF4-FFF2-40B4-BE49-F238E27FC236}">
                <a16:creationId xmlns:a16="http://schemas.microsoft.com/office/drawing/2014/main" id="{3857333A-C06A-338A-5B57-086B98560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10" y="1270770"/>
            <a:ext cx="6412843" cy="514869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CA2D27E-7D34-B70D-49B5-8733F52B57C4}"/>
              </a:ext>
            </a:extLst>
          </p:cNvPr>
          <p:cNvSpPr txBox="1"/>
          <p:nvPr/>
        </p:nvSpPr>
        <p:spPr>
          <a:xfrm>
            <a:off x="7063272" y="1259792"/>
            <a:ext cx="368559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arenBoth"/>
            </a:pPr>
            <a:r>
              <a:rPr lang="en-US" altLang="zh-TW" sz="1100" b="1" dirty="0"/>
              <a:t>Team (</a:t>
            </a:r>
            <a:r>
              <a:rPr lang="zh-TW" altLang="en-US" sz="1100" b="1" dirty="0"/>
              <a:t>球隊名稱</a:t>
            </a:r>
            <a:r>
              <a:rPr lang="en-US" altLang="zh-TW" sz="1100" b="1" dirty="0"/>
              <a:t>) </a:t>
            </a:r>
            <a:r>
              <a:rPr lang="en-US" altLang="zh-TW" sz="1100" b="1" dirty="0">
                <a:solidFill>
                  <a:srgbClr val="FF0000"/>
                </a:solidFill>
              </a:rPr>
              <a:t>: </a:t>
            </a:r>
            <a:r>
              <a:rPr lang="zh-TW" altLang="en-US" sz="1100" b="1" dirty="0">
                <a:solidFill>
                  <a:srgbClr val="FF0000"/>
                </a:solidFill>
              </a:rPr>
              <a:t>有</a:t>
            </a:r>
            <a:r>
              <a:rPr lang="en-US" altLang="zh-TW" sz="1100" b="1" dirty="0">
                <a:solidFill>
                  <a:srgbClr val="FF0000"/>
                </a:solidFill>
              </a:rPr>
              <a:t>30</a:t>
            </a:r>
            <a:r>
              <a:rPr lang="zh-TW" altLang="en-US" sz="1100" b="1" dirty="0">
                <a:solidFill>
                  <a:srgbClr val="FF0000"/>
                </a:solidFill>
              </a:rPr>
              <a:t>支隊伍。</a:t>
            </a:r>
            <a:endParaRPr lang="en-US" altLang="zh-TW" sz="1100" b="1" dirty="0">
              <a:solidFill>
                <a:srgbClr val="FF0000"/>
              </a:solidFill>
            </a:endParaRPr>
          </a:p>
          <a:p>
            <a:pPr marL="228600" indent="-228600">
              <a:buAutoNum type="arabicParenBoth"/>
            </a:pPr>
            <a:r>
              <a:rPr lang="en-US" altLang="zh-TW" sz="1100" b="1" dirty="0"/>
              <a:t>G</a:t>
            </a:r>
            <a:r>
              <a:rPr lang="zh-TW" altLang="en-US" sz="1100" b="1" dirty="0"/>
              <a:t>（比賽場數） </a:t>
            </a:r>
            <a:r>
              <a:rPr lang="en-US" altLang="zh-TW" sz="1100" b="1" dirty="0"/>
              <a:t>• </a:t>
            </a:r>
            <a:r>
              <a:rPr lang="zh-TW" altLang="en-US" sz="1100" b="1" dirty="0"/>
              <a:t>範圍：</a:t>
            </a:r>
            <a:r>
              <a:rPr lang="en-US" altLang="zh-TW" sz="1100" b="1" dirty="0"/>
              <a:t>151 </a:t>
            </a:r>
            <a:r>
              <a:rPr lang="zh-TW" altLang="en-US" sz="1100" b="1" dirty="0"/>
              <a:t>至 </a:t>
            </a:r>
            <a:r>
              <a:rPr lang="en-US" altLang="zh-TW" sz="1100" b="1" dirty="0"/>
              <a:t>154</a:t>
            </a:r>
            <a:r>
              <a:rPr lang="zh-TW" altLang="en-US" sz="1100" b="1" dirty="0"/>
              <a:t>。 </a:t>
            </a:r>
            <a:r>
              <a:rPr lang="en-US" altLang="zh-TW" sz="1100" b="1" dirty="0"/>
              <a:t>• </a:t>
            </a:r>
            <a:r>
              <a:rPr lang="zh-TW" altLang="en-US" sz="1100" b="1" dirty="0"/>
              <a:t>解釋：每支球隊的比賽場數幾乎相同。</a:t>
            </a:r>
            <a:endParaRPr lang="en-US" altLang="zh-TW" sz="1100" b="1" dirty="0"/>
          </a:p>
          <a:p>
            <a:pPr marL="228600" indent="-228600">
              <a:buAutoNum type="arabicParenBoth"/>
            </a:pPr>
            <a:r>
              <a:rPr lang="en-US" altLang="zh-TW" sz="1100" b="1" dirty="0"/>
              <a:t>R</a:t>
            </a:r>
            <a:r>
              <a:rPr lang="zh-TW" altLang="en-US" sz="1100" b="1" dirty="0"/>
              <a:t>（得分） </a:t>
            </a:r>
            <a:r>
              <a:rPr lang="en-US" altLang="zh-TW" sz="1100" b="1" dirty="0"/>
              <a:t>: </a:t>
            </a:r>
            <a:r>
              <a:rPr lang="zh-TW" altLang="en-US" sz="1100" b="1" dirty="0">
                <a:solidFill>
                  <a:srgbClr val="FF0000"/>
                </a:solidFill>
              </a:rPr>
              <a:t>範圍：</a:t>
            </a:r>
            <a:r>
              <a:rPr lang="en-US" altLang="zh-TW" sz="1100" b="1" dirty="0">
                <a:solidFill>
                  <a:srgbClr val="FF0000"/>
                </a:solidFill>
              </a:rPr>
              <a:t>551 </a:t>
            </a:r>
            <a:r>
              <a:rPr lang="zh-TW" altLang="en-US" sz="1100" b="1" dirty="0">
                <a:solidFill>
                  <a:srgbClr val="FF0000"/>
                </a:solidFill>
              </a:rPr>
              <a:t>至 </a:t>
            </a:r>
            <a:r>
              <a:rPr lang="en-US" altLang="zh-TW" sz="1100" b="1" dirty="0">
                <a:solidFill>
                  <a:srgbClr val="FF0000"/>
                </a:solidFill>
              </a:rPr>
              <a:t>764</a:t>
            </a:r>
            <a:r>
              <a:rPr lang="zh-TW" altLang="en-US" sz="1100" b="1" dirty="0">
                <a:solidFill>
                  <a:srgbClr val="FF0000"/>
                </a:solidFill>
              </a:rPr>
              <a:t>，</a:t>
            </a:r>
            <a:r>
              <a:rPr lang="en-US" altLang="zh-TW" sz="1100" b="1" dirty="0">
                <a:solidFill>
                  <a:srgbClr val="FF0000"/>
                </a:solidFill>
              </a:rPr>
              <a:t> </a:t>
            </a:r>
            <a:r>
              <a:rPr lang="zh-TW" altLang="en-US" sz="1100" b="1" dirty="0">
                <a:solidFill>
                  <a:srgbClr val="FF0000"/>
                </a:solidFill>
              </a:rPr>
              <a:t>中位數：</a:t>
            </a:r>
            <a:r>
              <a:rPr lang="en-US" altLang="zh-TW" sz="1100" b="1" dirty="0">
                <a:solidFill>
                  <a:srgbClr val="FF0000"/>
                </a:solidFill>
              </a:rPr>
              <a:t>668</a:t>
            </a:r>
            <a:r>
              <a:rPr lang="zh-TW" altLang="en-US" sz="1100" b="1" dirty="0"/>
              <a:t>，表示一半的球隊得分低於 </a:t>
            </a:r>
            <a:r>
              <a:rPr lang="en-US" altLang="zh-TW" sz="1100" b="1" dirty="0"/>
              <a:t>668</a:t>
            </a:r>
            <a:r>
              <a:rPr lang="zh-TW" altLang="en-US" sz="1100" b="1" dirty="0"/>
              <a:t>。 </a:t>
            </a:r>
            <a:r>
              <a:rPr lang="en-US" altLang="zh-TW" sz="1100" b="1" dirty="0"/>
              <a:t> </a:t>
            </a:r>
            <a:r>
              <a:rPr lang="zh-TW" altLang="en-US" sz="1100" b="1" dirty="0"/>
              <a:t>平均數：</a:t>
            </a:r>
            <a:r>
              <a:rPr lang="en-US" altLang="zh-TW" sz="1100" b="1" dirty="0"/>
              <a:t>662</a:t>
            </a:r>
            <a:r>
              <a:rPr lang="zh-TW" altLang="en-US" sz="1100" b="1" dirty="0"/>
              <a:t>，</a:t>
            </a:r>
            <a:r>
              <a:rPr lang="zh-TW" altLang="en-US" sz="1100" b="1" dirty="0">
                <a:solidFill>
                  <a:srgbClr val="FF0000"/>
                </a:solidFill>
              </a:rPr>
              <a:t>與中位數接近，說明得分分佈較均勻。 </a:t>
            </a:r>
            <a:endParaRPr lang="en-US" altLang="zh-TW" sz="1100" b="1" dirty="0">
              <a:solidFill>
                <a:srgbClr val="FF0000"/>
              </a:solidFill>
            </a:endParaRPr>
          </a:p>
          <a:p>
            <a:r>
              <a:rPr lang="en-US" altLang="zh-TW" sz="1100" b="1" dirty="0"/>
              <a:t>(4</a:t>
            </a:r>
            <a:r>
              <a:rPr lang="en-US" altLang="zh-TW" sz="1100" b="1" dirty="0">
                <a:solidFill>
                  <a:srgbClr val="FF0000"/>
                </a:solidFill>
              </a:rPr>
              <a:t>) H</a:t>
            </a:r>
            <a:r>
              <a:rPr lang="zh-TW" altLang="en-US" sz="1100" b="1" dirty="0">
                <a:solidFill>
                  <a:srgbClr val="FF0000"/>
                </a:solidFill>
              </a:rPr>
              <a:t>（安打數）</a:t>
            </a:r>
            <a:r>
              <a:rPr lang="en-US" altLang="zh-TW" sz="1100" b="1" dirty="0">
                <a:solidFill>
                  <a:srgbClr val="FF0000"/>
                </a:solidFill>
              </a:rPr>
              <a:t>: </a:t>
            </a:r>
            <a:r>
              <a:rPr lang="zh-TW" altLang="en-US" sz="1100" b="1" dirty="0">
                <a:solidFill>
                  <a:srgbClr val="FF0000"/>
                </a:solidFill>
              </a:rPr>
              <a:t>平均數：</a:t>
            </a:r>
            <a:r>
              <a:rPr lang="en-US" altLang="zh-TW" sz="1100" b="1" dirty="0">
                <a:solidFill>
                  <a:srgbClr val="FF0000"/>
                </a:solidFill>
              </a:rPr>
              <a:t>1323</a:t>
            </a:r>
            <a:r>
              <a:rPr lang="zh-TW" altLang="en-US" sz="1100" b="1" dirty="0">
                <a:solidFill>
                  <a:srgbClr val="FF0000"/>
                </a:solidFill>
              </a:rPr>
              <a:t>，說明每支球隊每季平均有 </a:t>
            </a:r>
            <a:r>
              <a:rPr lang="en-US" altLang="zh-TW" sz="1100" b="1" dirty="0">
                <a:solidFill>
                  <a:srgbClr val="FF0000"/>
                </a:solidFill>
              </a:rPr>
              <a:t>1323 </a:t>
            </a:r>
            <a:r>
              <a:rPr lang="zh-TW" altLang="en-US" sz="1100" b="1" dirty="0">
                <a:solidFill>
                  <a:srgbClr val="FF0000"/>
                </a:solidFill>
              </a:rPr>
              <a:t>次安打。</a:t>
            </a:r>
            <a:endParaRPr lang="en-US" altLang="zh-TW" sz="1100" b="1" dirty="0">
              <a:solidFill>
                <a:srgbClr val="FF0000"/>
              </a:solidFill>
            </a:endParaRPr>
          </a:p>
          <a:p>
            <a:r>
              <a:rPr lang="zh-TW" altLang="en-US" sz="1100" b="1" dirty="0"/>
              <a:t> </a:t>
            </a:r>
            <a:r>
              <a:rPr lang="en-US" altLang="zh-TW" sz="1100" b="1" dirty="0"/>
              <a:t>(5) H1B</a:t>
            </a:r>
            <a:r>
              <a:rPr lang="zh-TW" altLang="en-US" sz="1100" b="1" dirty="0"/>
              <a:t>、</a:t>
            </a:r>
            <a:r>
              <a:rPr lang="en-US" altLang="zh-TW" sz="1100" b="1" dirty="0"/>
              <a:t>H2B</a:t>
            </a:r>
            <a:r>
              <a:rPr lang="zh-TW" altLang="en-US" sz="1100" b="1" dirty="0"/>
              <a:t>、</a:t>
            </a:r>
            <a:r>
              <a:rPr lang="en-US" altLang="zh-TW" sz="1100" b="1" dirty="0"/>
              <a:t>H3B</a:t>
            </a:r>
            <a:r>
              <a:rPr lang="zh-TW" altLang="en-US" sz="1100" b="1" dirty="0"/>
              <a:t>、</a:t>
            </a:r>
            <a:r>
              <a:rPr lang="en-US" altLang="zh-TW" sz="1100" b="1" dirty="0"/>
              <a:t>HR</a:t>
            </a:r>
            <a:r>
              <a:rPr lang="zh-TW" altLang="en-US" sz="1100" b="1" dirty="0"/>
              <a:t>（單壘、雙壘、三壘安打和全壘打） </a:t>
            </a:r>
            <a:r>
              <a:rPr lang="en-US" altLang="zh-TW" sz="1100" b="1" dirty="0">
                <a:solidFill>
                  <a:srgbClr val="FF0000"/>
                </a:solidFill>
              </a:rPr>
              <a:t>• H1B</a:t>
            </a:r>
            <a:r>
              <a:rPr lang="zh-TW" altLang="en-US" sz="1100" b="1" dirty="0">
                <a:solidFill>
                  <a:srgbClr val="FF0000"/>
                </a:solidFill>
              </a:rPr>
              <a:t>（單壘安打）</a:t>
            </a:r>
            <a:r>
              <a:rPr lang="zh-TW" altLang="en-US" sz="1100" b="1" dirty="0"/>
              <a:t>： </a:t>
            </a:r>
            <a:r>
              <a:rPr lang="en-US" altLang="zh-TW" sz="1100" b="1" dirty="0"/>
              <a:t>o </a:t>
            </a:r>
            <a:r>
              <a:rPr lang="zh-TW" altLang="en-US" sz="1100" b="1" dirty="0"/>
              <a:t>範圍：</a:t>
            </a:r>
            <a:r>
              <a:rPr lang="en-US" altLang="zh-TW" sz="1100" b="1" dirty="0"/>
              <a:t>767 </a:t>
            </a:r>
            <a:r>
              <a:rPr lang="zh-TW" altLang="en-US" sz="1100" b="1" dirty="0"/>
              <a:t>至 </a:t>
            </a:r>
            <a:r>
              <a:rPr lang="en-US" altLang="zh-TW" sz="1100" b="1" dirty="0"/>
              <a:t>997</a:t>
            </a:r>
            <a:r>
              <a:rPr lang="zh-TW" altLang="en-US" sz="1100" b="1" dirty="0"/>
              <a:t>，平均值為 </a:t>
            </a:r>
            <a:r>
              <a:rPr lang="en-US" altLang="zh-TW" sz="1100" b="1" dirty="0"/>
              <a:t>878</a:t>
            </a:r>
            <a:r>
              <a:rPr lang="zh-TW" altLang="en-US" sz="1100" b="1" dirty="0"/>
              <a:t>。 </a:t>
            </a:r>
            <a:r>
              <a:rPr lang="en-US" altLang="zh-TW" sz="1100" b="1" dirty="0"/>
              <a:t>o </a:t>
            </a:r>
            <a:r>
              <a:rPr lang="zh-TW" altLang="en-US" sz="1100" b="1" dirty="0"/>
              <a:t>是</a:t>
            </a:r>
            <a:r>
              <a:rPr lang="zh-TW" altLang="en-US" sz="1100" b="1" dirty="0">
                <a:solidFill>
                  <a:srgbClr val="FF0000"/>
                </a:solidFill>
              </a:rPr>
              <a:t>所有安打中最主要的組成部分。 </a:t>
            </a:r>
            <a:endParaRPr lang="en-US" altLang="zh-TW" sz="1100" b="1" dirty="0">
              <a:solidFill>
                <a:srgbClr val="FF0000"/>
              </a:solidFill>
            </a:endParaRPr>
          </a:p>
          <a:p>
            <a:r>
              <a:rPr lang="en-US" altLang="zh-TW" sz="1100" b="1" dirty="0"/>
              <a:t>• H2B</a:t>
            </a:r>
            <a:r>
              <a:rPr lang="zh-TW" altLang="en-US" sz="1100" b="1" dirty="0"/>
              <a:t>（雙壘安打）： </a:t>
            </a:r>
            <a:r>
              <a:rPr lang="en-US" altLang="zh-TW" sz="1100" b="1" dirty="0"/>
              <a:t>o </a:t>
            </a:r>
            <a:r>
              <a:rPr lang="zh-TW" altLang="en-US" sz="1100" b="1" dirty="0"/>
              <a:t>範圍：</a:t>
            </a:r>
            <a:r>
              <a:rPr lang="en-US" altLang="zh-TW" sz="1100" b="1" dirty="0"/>
              <a:t>218 </a:t>
            </a:r>
            <a:r>
              <a:rPr lang="zh-TW" altLang="en-US" sz="1100" b="1" dirty="0"/>
              <a:t>至 </a:t>
            </a:r>
            <a:r>
              <a:rPr lang="en-US" altLang="zh-TW" sz="1100" b="1" dirty="0"/>
              <a:t>330</a:t>
            </a:r>
            <a:r>
              <a:rPr lang="zh-TW" altLang="en-US" sz="1100" b="1" dirty="0"/>
              <a:t>，平均值為 </a:t>
            </a:r>
            <a:r>
              <a:rPr lang="en-US" altLang="zh-TW" sz="1100" b="1" dirty="0"/>
              <a:t>260</a:t>
            </a:r>
            <a:r>
              <a:rPr lang="zh-TW" altLang="en-US" sz="1100" b="1" dirty="0"/>
              <a:t>。 </a:t>
            </a:r>
            <a:r>
              <a:rPr lang="en-US" altLang="zh-TW" sz="1100" b="1" dirty="0"/>
              <a:t>o </a:t>
            </a:r>
            <a:r>
              <a:rPr lang="zh-TW" altLang="en-US" sz="1100" b="1" dirty="0"/>
              <a:t>雙壘安打的數量略有變異。 </a:t>
            </a:r>
            <a:endParaRPr lang="en-US" altLang="zh-TW" sz="1100" b="1" dirty="0"/>
          </a:p>
          <a:p>
            <a:r>
              <a:rPr lang="en-US" altLang="zh-TW" sz="1100" b="1" dirty="0"/>
              <a:t>• </a:t>
            </a:r>
            <a:r>
              <a:rPr lang="en-US" altLang="zh-TW" sz="1100" b="1" dirty="0">
                <a:solidFill>
                  <a:srgbClr val="FF0000"/>
                </a:solidFill>
              </a:rPr>
              <a:t>H3B</a:t>
            </a:r>
            <a:r>
              <a:rPr lang="zh-TW" altLang="en-US" sz="1100" b="1" dirty="0">
                <a:solidFill>
                  <a:srgbClr val="FF0000"/>
                </a:solidFill>
              </a:rPr>
              <a:t>（三壘安打）： 範圍：</a:t>
            </a:r>
            <a:r>
              <a:rPr lang="en-US" altLang="zh-TW" sz="1100" b="1" dirty="0">
                <a:solidFill>
                  <a:srgbClr val="FF0000"/>
                </a:solidFill>
              </a:rPr>
              <a:t>12 </a:t>
            </a:r>
            <a:r>
              <a:rPr lang="zh-TW" altLang="en-US" sz="1100" b="1" dirty="0">
                <a:solidFill>
                  <a:srgbClr val="FF0000"/>
                </a:solidFill>
              </a:rPr>
              <a:t>至 </a:t>
            </a:r>
            <a:r>
              <a:rPr lang="en-US" altLang="zh-TW" sz="1100" b="1" dirty="0">
                <a:solidFill>
                  <a:srgbClr val="FF0000"/>
                </a:solidFill>
              </a:rPr>
              <a:t>54</a:t>
            </a:r>
            <a:r>
              <a:rPr lang="zh-TW" altLang="en-US" sz="1100" b="1" dirty="0">
                <a:solidFill>
                  <a:srgbClr val="FF0000"/>
                </a:solidFill>
              </a:rPr>
              <a:t>，平均值僅 </a:t>
            </a:r>
            <a:r>
              <a:rPr lang="en-US" altLang="zh-TW" sz="1100" b="1" dirty="0">
                <a:solidFill>
                  <a:srgbClr val="FF0000"/>
                </a:solidFill>
              </a:rPr>
              <a:t>29</a:t>
            </a:r>
            <a:r>
              <a:rPr lang="zh-TW" altLang="en-US" sz="1100" b="1" dirty="0">
                <a:solidFill>
                  <a:srgbClr val="FF0000"/>
                </a:solidFill>
              </a:rPr>
              <a:t>。 </a:t>
            </a:r>
            <a:r>
              <a:rPr lang="en-US" altLang="zh-TW" sz="1100" b="1" dirty="0">
                <a:solidFill>
                  <a:srgbClr val="FF0000"/>
                </a:solidFill>
              </a:rPr>
              <a:t>o </a:t>
            </a:r>
            <a:r>
              <a:rPr lang="zh-TW" altLang="en-US" sz="1100" b="1" dirty="0">
                <a:solidFill>
                  <a:srgbClr val="FF0000"/>
                </a:solidFill>
              </a:rPr>
              <a:t>三壘安打是較少見的一種安打</a:t>
            </a:r>
            <a:r>
              <a:rPr lang="zh-TW" altLang="en-US" sz="1100" b="1" dirty="0"/>
              <a:t>。 </a:t>
            </a:r>
            <a:r>
              <a:rPr lang="en-US" altLang="zh-TW" sz="1100" b="1" dirty="0"/>
              <a:t>•</a:t>
            </a:r>
          </a:p>
          <a:p>
            <a:r>
              <a:rPr lang="en-US" altLang="zh-TW" sz="1100" b="1" dirty="0"/>
              <a:t> </a:t>
            </a:r>
            <a:r>
              <a:rPr lang="en-US" altLang="zh-TW" sz="1100" b="1" dirty="0">
                <a:solidFill>
                  <a:srgbClr val="FF0000"/>
                </a:solidFill>
              </a:rPr>
              <a:t>HR</a:t>
            </a:r>
            <a:r>
              <a:rPr lang="zh-TW" altLang="en-US" sz="1100" b="1" dirty="0">
                <a:solidFill>
                  <a:srgbClr val="FF0000"/>
                </a:solidFill>
              </a:rPr>
              <a:t>（全壘打）： </a:t>
            </a:r>
            <a:r>
              <a:rPr lang="en-US" altLang="zh-TW" sz="1100" b="1" dirty="0">
                <a:solidFill>
                  <a:srgbClr val="FF0000"/>
                </a:solidFill>
              </a:rPr>
              <a:t> </a:t>
            </a:r>
            <a:r>
              <a:rPr lang="zh-TW" altLang="en-US" sz="1100" b="1" dirty="0">
                <a:solidFill>
                  <a:srgbClr val="FF0000"/>
                </a:solidFill>
              </a:rPr>
              <a:t>範圍：</a:t>
            </a:r>
            <a:r>
              <a:rPr lang="en-US" altLang="zh-TW" sz="1100" b="1" dirty="0">
                <a:solidFill>
                  <a:srgbClr val="FF0000"/>
                </a:solidFill>
              </a:rPr>
              <a:t>95 </a:t>
            </a:r>
            <a:r>
              <a:rPr lang="zh-TW" altLang="en-US" sz="1100" b="1" dirty="0">
                <a:solidFill>
                  <a:srgbClr val="FF0000"/>
                </a:solidFill>
              </a:rPr>
              <a:t>至 </a:t>
            </a:r>
            <a:r>
              <a:rPr lang="en-US" altLang="zh-TW" sz="1100" b="1" dirty="0">
                <a:solidFill>
                  <a:srgbClr val="FF0000"/>
                </a:solidFill>
              </a:rPr>
              <a:t>225</a:t>
            </a:r>
            <a:r>
              <a:rPr lang="zh-TW" altLang="en-US" sz="1100" b="1" dirty="0">
                <a:solidFill>
                  <a:srgbClr val="FF0000"/>
                </a:solidFill>
              </a:rPr>
              <a:t>，平均值為 </a:t>
            </a:r>
            <a:r>
              <a:rPr lang="en-US" altLang="zh-TW" sz="1100" b="1" dirty="0">
                <a:solidFill>
                  <a:srgbClr val="FF0000"/>
                </a:solidFill>
              </a:rPr>
              <a:t>154</a:t>
            </a:r>
            <a:r>
              <a:rPr lang="zh-TW" altLang="en-US" sz="1100" b="1" dirty="0"/>
              <a:t>。 </a:t>
            </a:r>
            <a:r>
              <a:rPr lang="en-US" altLang="zh-TW" sz="1100" b="1" dirty="0"/>
              <a:t>o </a:t>
            </a:r>
            <a:r>
              <a:rPr lang="zh-TW" altLang="en-US" sz="1100" b="1" dirty="0">
                <a:solidFill>
                  <a:srgbClr val="FF0000"/>
                </a:solidFill>
              </a:rPr>
              <a:t>不同球隊在全壘打上的表現差異較大</a:t>
            </a:r>
            <a:r>
              <a:rPr lang="zh-TW" altLang="en-US" sz="1100" b="1" dirty="0"/>
              <a:t>（從 </a:t>
            </a:r>
            <a:r>
              <a:rPr lang="en-US" altLang="zh-TW" sz="1100" b="1" dirty="0"/>
              <a:t>95 </a:t>
            </a:r>
            <a:r>
              <a:rPr lang="zh-TW" altLang="en-US" sz="1100" b="1" dirty="0"/>
              <a:t>到 </a:t>
            </a:r>
            <a:r>
              <a:rPr lang="en-US" altLang="zh-TW" sz="1100" b="1" dirty="0"/>
              <a:t>225</a:t>
            </a:r>
            <a:r>
              <a:rPr lang="zh-TW" altLang="en-US" sz="1100" b="1" dirty="0"/>
              <a:t>）。 </a:t>
            </a:r>
            <a:r>
              <a:rPr lang="en-US" altLang="zh-TW" sz="1100" b="1" dirty="0"/>
              <a:t>(6) </a:t>
            </a:r>
            <a:r>
              <a:rPr lang="en-US" altLang="zh-TW" sz="1100" b="1" dirty="0">
                <a:solidFill>
                  <a:srgbClr val="FF0000"/>
                </a:solidFill>
              </a:rPr>
              <a:t>RBI</a:t>
            </a:r>
            <a:r>
              <a:rPr lang="zh-TW" altLang="en-US" sz="1100" b="1" dirty="0">
                <a:solidFill>
                  <a:srgbClr val="FF0000"/>
                </a:solidFill>
              </a:rPr>
              <a:t>（打點） </a:t>
            </a:r>
            <a:r>
              <a:rPr lang="en-US" altLang="zh-TW" sz="1100" b="1" dirty="0">
                <a:solidFill>
                  <a:srgbClr val="FF0000"/>
                </a:solidFill>
              </a:rPr>
              <a:t>• </a:t>
            </a:r>
            <a:r>
              <a:rPr lang="zh-TW" altLang="en-US" sz="1100" b="1" dirty="0">
                <a:solidFill>
                  <a:srgbClr val="FF0000"/>
                </a:solidFill>
              </a:rPr>
              <a:t>範圍：</a:t>
            </a:r>
            <a:r>
              <a:rPr lang="en-US" altLang="zh-TW" sz="1100" b="1" dirty="0">
                <a:solidFill>
                  <a:srgbClr val="FF0000"/>
                </a:solidFill>
              </a:rPr>
              <a:t>514 </a:t>
            </a:r>
            <a:r>
              <a:rPr lang="zh-TW" altLang="en-US" sz="1100" b="1" dirty="0">
                <a:solidFill>
                  <a:srgbClr val="FF0000"/>
                </a:solidFill>
              </a:rPr>
              <a:t>至 </a:t>
            </a:r>
            <a:r>
              <a:rPr lang="en-US" altLang="zh-TW" sz="1100" b="1" dirty="0">
                <a:solidFill>
                  <a:srgbClr val="FF0000"/>
                </a:solidFill>
              </a:rPr>
              <a:t>738</a:t>
            </a:r>
            <a:r>
              <a:rPr lang="zh-TW" altLang="en-US" sz="1100" b="1" dirty="0">
                <a:solidFill>
                  <a:srgbClr val="FF0000"/>
                </a:solidFill>
              </a:rPr>
              <a:t>，平均值為 </a:t>
            </a:r>
            <a:r>
              <a:rPr lang="en-US" altLang="zh-TW" sz="1100" b="1" dirty="0">
                <a:solidFill>
                  <a:srgbClr val="FF0000"/>
                </a:solidFill>
              </a:rPr>
              <a:t>630</a:t>
            </a:r>
            <a:r>
              <a:rPr lang="zh-TW" altLang="en-US" sz="1100" b="1" dirty="0">
                <a:solidFill>
                  <a:srgbClr val="FF0000"/>
                </a:solidFill>
              </a:rPr>
              <a:t>。 </a:t>
            </a:r>
            <a:r>
              <a:rPr lang="en-US" altLang="zh-TW" sz="1100" b="1" dirty="0">
                <a:solidFill>
                  <a:srgbClr val="FF0000"/>
                </a:solidFill>
              </a:rPr>
              <a:t>• </a:t>
            </a:r>
            <a:r>
              <a:rPr lang="zh-TW" altLang="en-US" sz="1100" b="1" dirty="0">
                <a:solidFill>
                  <a:srgbClr val="FF0000"/>
                </a:solidFill>
              </a:rPr>
              <a:t>解釋：反映了球隊得分能力，與得分（</a:t>
            </a:r>
            <a:r>
              <a:rPr lang="en-US" altLang="zh-TW" sz="1100" b="1" dirty="0">
                <a:solidFill>
                  <a:srgbClr val="FF0000"/>
                </a:solidFill>
              </a:rPr>
              <a:t>R</a:t>
            </a:r>
            <a:r>
              <a:rPr lang="zh-TW" altLang="en-US" sz="1100" b="1" dirty="0">
                <a:solidFill>
                  <a:srgbClr val="FF0000"/>
                </a:solidFill>
              </a:rPr>
              <a:t>）高度相關</a:t>
            </a:r>
            <a:r>
              <a:rPr lang="zh-TW" altLang="en-US" sz="1100" b="1" dirty="0"/>
              <a:t>。</a:t>
            </a:r>
            <a:endParaRPr lang="en-US" altLang="zh-TW" sz="1100" b="1" dirty="0"/>
          </a:p>
          <a:p>
            <a:r>
              <a:rPr lang="zh-TW" altLang="en-US" sz="1100" b="1" dirty="0"/>
              <a:t> </a:t>
            </a:r>
            <a:r>
              <a:rPr lang="en-US" altLang="zh-TW" sz="1100" b="1" dirty="0"/>
              <a:t>(7) BB</a:t>
            </a:r>
            <a:r>
              <a:rPr lang="zh-TW" altLang="en-US" sz="1100" b="1" dirty="0"/>
              <a:t>（四壞球數量） </a:t>
            </a:r>
            <a:r>
              <a:rPr lang="en-US" altLang="zh-TW" sz="1100" b="1" dirty="0"/>
              <a:t>• </a:t>
            </a:r>
            <a:r>
              <a:rPr lang="zh-TW" altLang="en-US" sz="1100" b="1" dirty="0"/>
              <a:t>範圍：</a:t>
            </a:r>
            <a:r>
              <a:rPr lang="en-US" altLang="zh-TW" sz="1100" b="1" dirty="0"/>
              <a:t>380 </a:t>
            </a:r>
            <a:r>
              <a:rPr lang="zh-TW" altLang="en-US" sz="1100" b="1" dirty="0"/>
              <a:t>至 </a:t>
            </a:r>
            <a:r>
              <a:rPr lang="en-US" altLang="zh-TW" sz="1100" b="1" dirty="0"/>
              <a:t>539</a:t>
            </a:r>
            <a:r>
              <a:rPr lang="zh-TW" altLang="en-US" sz="1100" b="1" dirty="0"/>
              <a:t>，平均值為 </a:t>
            </a:r>
            <a:r>
              <a:rPr lang="en-US" altLang="zh-TW" sz="1100" b="1" dirty="0"/>
              <a:t>462</a:t>
            </a:r>
            <a:r>
              <a:rPr lang="zh-TW" altLang="en-US" sz="1100" b="1" dirty="0"/>
              <a:t>。 </a:t>
            </a:r>
            <a:endParaRPr lang="en-US" altLang="zh-TW" sz="1100" b="1" dirty="0"/>
          </a:p>
          <a:p>
            <a:r>
              <a:rPr lang="zh-TW" altLang="en-US" sz="1100" b="1" dirty="0"/>
              <a:t> </a:t>
            </a:r>
            <a:r>
              <a:rPr lang="en-US" altLang="zh-TW" sz="1100" b="1" dirty="0"/>
              <a:t>(8) SO</a:t>
            </a:r>
            <a:r>
              <a:rPr lang="zh-TW" altLang="en-US" sz="1100" b="1" dirty="0"/>
              <a:t>（三振） </a:t>
            </a:r>
            <a:r>
              <a:rPr lang="en-US" altLang="zh-TW" sz="1100" b="1" dirty="0"/>
              <a:t>• </a:t>
            </a:r>
            <a:r>
              <a:rPr lang="zh-TW" altLang="en-US" sz="1100" b="1" dirty="0"/>
              <a:t>範圍：</a:t>
            </a:r>
            <a:r>
              <a:rPr lang="en-US" altLang="zh-TW" sz="1100" b="1" dirty="0"/>
              <a:t>958 </a:t>
            </a:r>
            <a:r>
              <a:rPr lang="zh-TW" altLang="en-US" sz="1100" b="1" dirty="0"/>
              <a:t>至 </a:t>
            </a:r>
            <a:r>
              <a:rPr lang="en-US" altLang="zh-TW" sz="1100" b="1" dirty="0"/>
              <a:t>1296</a:t>
            </a:r>
            <a:r>
              <a:rPr lang="zh-TW" altLang="en-US" sz="1100" b="1" dirty="0"/>
              <a:t>，平均值為 </a:t>
            </a:r>
            <a:r>
              <a:rPr lang="en-US" altLang="zh-TW" sz="1100" b="1" dirty="0"/>
              <a:t>1141</a:t>
            </a:r>
            <a:r>
              <a:rPr lang="zh-TW" altLang="en-US" sz="1100" b="1" dirty="0"/>
              <a:t>。 </a:t>
            </a:r>
            <a:r>
              <a:rPr lang="en-US" altLang="zh-TW" sz="1100" b="1" dirty="0"/>
              <a:t>• </a:t>
            </a:r>
            <a:r>
              <a:rPr lang="zh-TW" altLang="en-US" sz="1100" b="1" dirty="0"/>
              <a:t>解釋：過多的三振可能意味著球隊進攻表現的不穩定性。 </a:t>
            </a:r>
            <a:r>
              <a:rPr lang="en-US" altLang="zh-TW" sz="1100" b="1" dirty="0"/>
              <a:t>(9) SB</a:t>
            </a:r>
            <a:r>
              <a:rPr lang="zh-TW" altLang="en-US" sz="1100" b="1" dirty="0"/>
              <a:t>（盜壘） </a:t>
            </a:r>
            <a:r>
              <a:rPr lang="en-US" altLang="zh-TW" sz="1100" b="1" dirty="0"/>
              <a:t>• </a:t>
            </a:r>
            <a:r>
              <a:rPr lang="zh-TW" altLang="en-US" sz="1100" b="1" dirty="0"/>
              <a:t>範圍：</a:t>
            </a:r>
            <a:r>
              <a:rPr lang="en-US" altLang="zh-TW" sz="1100" b="1" dirty="0"/>
              <a:t>51 </a:t>
            </a:r>
            <a:r>
              <a:rPr lang="zh-TW" altLang="en-US" sz="1100" b="1" dirty="0"/>
              <a:t>至 </a:t>
            </a:r>
            <a:r>
              <a:rPr lang="en-US" altLang="zh-TW" sz="1100" b="1" dirty="0"/>
              <a:t>150</a:t>
            </a:r>
            <a:r>
              <a:rPr lang="zh-TW" altLang="en-US" sz="1100" b="1" dirty="0"/>
              <a:t>，平均值為 </a:t>
            </a:r>
            <a:r>
              <a:rPr lang="en-US" altLang="zh-TW" sz="1100" b="1" dirty="0"/>
              <a:t>102</a:t>
            </a:r>
            <a:r>
              <a:rPr lang="zh-TW" altLang="en-US" sz="1100" b="1" dirty="0"/>
              <a:t>。 解釋：少部分球隊可能更注重跑壘策略。 </a:t>
            </a:r>
            <a:endParaRPr lang="en-US" altLang="zh-TW" sz="1100" b="1" dirty="0"/>
          </a:p>
          <a:p>
            <a:r>
              <a:rPr lang="en-US" altLang="zh-TW" sz="1100" b="1" dirty="0"/>
              <a:t>(10) AVG</a:t>
            </a:r>
            <a:r>
              <a:rPr lang="zh-TW" altLang="en-US" sz="1100" b="1" dirty="0"/>
              <a:t>（打擊率） </a:t>
            </a:r>
            <a:r>
              <a:rPr lang="en-US" altLang="zh-TW" sz="1100" b="1" dirty="0"/>
              <a:t>• </a:t>
            </a:r>
            <a:r>
              <a:rPr lang="zh-TW" altLang="en-US" sz="1100" b="1" dirty="0"/>
              <a:t>範圍：</a:t>
            </a:r>
            <a:r>
              <a:rPr lang="en-US" altLang="zh-TW" sz="1100" b="1" dirty="0"/>
              <a:t>0.233 </a:t>
            </a:r>
            <a:r>
              <a:rPr lang="zh-TW" altLang="en-US" sz="1100" b="1" dirty="0"/>
              <a:t>至 </a:t>
            </a:r>
            <a:r>
              <a:rPr lang="en-US" altLang="zh-TW" sz="1100" b="1" dirty="0"/>
              <a:t>0.275</a:t>
            </a:r>
            <a:r>
              <a:rPr lang="zh-TW" altLang="en-US" sz="1100" b="1" dirty="0"/>
              <a:t>，平均值為 </a:t>
            </a:r>
            <a:r>
              <a:rPr lang="en-US" altLang="zh-TW" sz="1100" b="1" dirty="0"/>
              <a:t>0.254</a:t>
            </a:r>
            <a:r>
              <a:rPr lang="zh-TW" altLang="en-US" sz="1100" b="1" dirty="0"/>
              <a:t>。 大部分球隊的打擊率在 </a:t>
            </a:r>
            <a:r>
              <a:rPr lang="en-US" altLang="zh-TW" sz="1100" b="1" dirty="0"/>
              <a:t>0.25 </a:t>
            </a:r>
            <a:r>
              <a:rPr lang="zh-TW" altLang="en-US" sz="1100" b="1" dirty="0"/>
              <a:t>左右，變異較小。 </a:t>
            </a:r>
            <a:r>
              <a:rPr lang="en-US" altLang="zh-TW" sz="1100" b="1" dirty="0"/>
              <a:t>(11) OBP</a:t>
            </a:r>
            <a:r>
              <a:rPr lang="zh-TW" altLang="en-US" sz="1100" b="1" dirty="0"/>
              <a:t>（上壘率） </a:t>
            </a:r>
            <a:r>
              <a:rPr lang="en-US" altLang="zh-TW" sz="1100" b="1" dirty="0"/>
              <a:t>• </a:t>
            </a:r>
            <a:r>
              <a:rPr lang="zh-TW" altLang="en-US" sz="1100" b="1" dirty="0"/>
              <a:t>範圍：</a:t>
            </a:r>
            <a:r>
              <a:rPr lang="en-US" altLang="zh-TW" sz="1100" b="1" dirty="0"/>
              <a:t>0.294 </a:t>
            </a:r>
            <a:r>
              <a:rPr lang="zh-TW" altLang="en-US" sz="1100" b="1" dirty="0"/>
              <a:t>至 </a:t>
            </a:r>
            <a:r>
              <a:rPr lang="en-US" altLang="zh-TW" sz="1100" b="1" dirty="0"/>
              <a:t>0.338</a:t>
            </a:r>
            <a:r>
              <a:rPr lang="zh-TW" altLang="en-US" sz="1100" b="1" dirty="0"/>
              <a:t>，平均值為 </a:t>
            </a:r>
            <a:r>
              <a:rPr lang="en-US" altLang="zh-TW" sz="1100" b="1" dirty="0"/>
              <a:t>0.319</a:t>
            </a:r>
            <a:r>
              <a:rPr lang="zh-TW" altLang="en-US" sz="1100" b="1" dirty="0"/>
              <a:t>。 上壘率包含打擊率、四壞球等因素，對球隊得分影響大。</a:t>
            </a:r>
          </a:p>
        </p:txBody>
      </p:sp>
    </p:spTree>
    <p:extLst>
      <p:ext uri="{BB962C8B-B14F-4D97-AF65-F5344CB8AC3E}">
        <p14:creationId xmlns:p14="http://schemas.microsoft.com/office/powerpoint/2010/main" val="12579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98BAF57-12C7-3D66-C1B9-C7CDFF416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11AD837-C368-0F19-1BA6-D0F4E57BA557}"/>
              </a:ext>
            </a:extLst>
          </p:cNvPr>
          <p:cNvSpPr/>
          <p:nvPr/>
        </p:nvSpPr>
        <p:spPr>
          <a:xfrm>
            <a:off x="3716594" y="339213"/>
            <a:ext cx="4277032" cy="6931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本框 26">
            <a:extLst>
              <a:ext uri="{FF2B5EF4-FFF2-40B4-BE49-F238E27FC236}">
                <a16:creationId xmlns:a16="http://schemas.microsoft.com/office/drawing/2014/main" id="{EFD8B983-6C25-E07E-C8D1-DBEF8851DDF2}"/>
              </a:ext>
            </a:extLst>
          </p:cNvPr>
          <p:cNvSpPr txBox="1"/>
          <p:nvPr/>
        </p:nvSpPr>
        <p:spPr>
          <a:xfrm>
            <a:off x="2664566" y="280451"/>
            <a:ext cx="50342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4000" b="1" dirty="0">
                <a:solidFill>
                  <a:schemeClr val="bg1"/>
                </a:solidFill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原始資料</a:t>
            </a: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2" name="內容版面配置區 7" descr="一張含有 文字, 螢幕擷取畫面, 黑與白, 字型 的圖片&#10;&#10;自動產生的描述">
            <a:extLst>
              <a:ext uri="{FF2B5EF4-FFF2-40B4-BE49-F238E27FC236}">
                <a16:creationId xmlns:a16="http://schemas.microsoft.com/office/drawing/2014/main" id="{617D6155-7755-C149-3B17-8B3F6E98C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07" y="1359950"/>
            <a:ext cx="10443742" cy="404247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E3D81A6-7890-9CEB-836A-6C58BA55D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566" y="5550198"/>
            <a:ext cx="6459571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61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圖片 29">
            <a:extLst>
              <a:ext uri="{FF2B5EF4-FFF2-40B4-BE49-F238E27FC236}">
                <a16:creationId xmlns:a16="http://schemas.microsoft.com/office/drawing/2014/main" id="{CEDDD300-4D1A-2243-A921-86B9B7634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31" name="文本框 26">
            <a:extLst>
              <a:ext uri="{FF2B5EF4-FFF2-40B4-BE49-F238E27FC236}">
                <a16:creationId xmlns:a16="http://schemas.microsoft.com/office/drawing/2014/main" id="{A84BB711-7AC0-CC48-9A6F-6D5BD8A5A5B7}"/>
              </a:ext>
            </a:extLst>
          </p:cNvPr>
          <p:cNvSpPr txBox="1"/>
          <p:nvPr/>
        </p:nvSpPr>
        <p:spPr>
          <a:xfrm>
            <a:off x="2664566" y="280451"/>
            <a:ext cx="50342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變數意義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9390371-97AF-4393-B3B7-9224A9530806}"/>
              </a:ext>
            </a:extLst>
          </p:cNvPr>
          <p:cNvSpPr txBox="1"/>
          <p:nvPr/>
        </p:nvSpPr>
        <p:spPr>
          <a:xfrm>
            <a:off x="146923" y="1317144"/>
            <a:ext cx="36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dependent variable(Y or target)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06C48528-6559-455C-8DAF-C1E49CA30F9E}"/>
              </a:ext>
            </a:extLst>
          </p:cNvPr>
          <p:cNvCxnSpPr>
            <a:cxnSpLocks/>
          </p:cNvCxnSpPr>
          <p:nvPr/>
        </p:nvCxnSpPr>
        <p:spPr>
          <a:xfrm>
            <a:off x="543919" y="1653012"/>
            <a:ext cx="0" cy="437099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F93BD08-3346-41DB-8D55-6D68707040FF}"/>
              </a:ext>
            </a:extLst>
          </p:cNvPr>
          <p:cNvCxnSpPr/>
          <p:nvPr/>
        </p:nvCxnSpPr>
        <p:spPr>
          <a:xfrm>
            <a:off x="543919" y="6024009"/>
            <a:ext cx="4891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23E024ED-0C08-4C8E-8156-7487F17BBE71}"/>
              </a:ext>
            </a:extLst>
          </p:cNvPr>
          <p:cNvSpPr txBox="1"/>
          <p:nvPr/>
        </p:nvSpPr>
        <p:spPr>
          <a:xfrm>
            <a:off x="9223036" y="1357063"/>
            <a:ext cx="2716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independent variable(X)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C1857EC0-A7DC-4774-B5BE-299082C6FB21}"/>
              </a:ext>
            </a:extLst>
          </p:cNvPr>
          <p:cNvCxnSpPr>
            <a:cxnSpLocks/>
          </p:cNvCxnSpPr>
          <p:nvPr/>
        </p:nvCxnSpPr>
        <p:spPr>
          <a:xfrm flipH="1">
            <a:off x="11452583" y="1778972"/>
            <a:ext cx="17064" cy="39887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822434F8-439F-43E2-9CE7-9D131B1E4334}"/>
              </a:ext>
            </a:extLst>
          </p:cNvPr>
          <p:cNvCxnSpPr>
            <a:cxnSpLocks/>
          </p:cNvCxnSpPr>
          <p:nvPr/>
        </p:nvCxnSpPr>
        <p:spPr>
          <a:xfrm flipH="1">
            <a:off x="10980485" y="4582704"/>
            <a:ext cx="47778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8F89FBE1-5BA5-4371-AC1E-EAFBC7266D44}"/>
              </a:ext>
            </a:extLst>
          </p:cNvPr>
          <p:cNvCxnSpPr>
            <a:cxnSpLocks/>
          </p:cNvCxnSpPr>
          <p:nvPr/>
        </p:nvCxnSpPr>
        <p:spPr>
          <a:xfrm flipH="1">
            <a:off x="10997545" y="4291132"/>
            <a:ext cx="4891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DAF39D3-F98D-44A6-9F2E-AFC2B5C67C1D}"/>
              </a:ext>
            </a:extLst>
          </p:cNvPr>
          <p:cNvCxnSpPr>
            <a:cxnSpLocks/>
          </p:cNvCxnSpPr>
          <p:nvPr/>
        </p:nvCxnSpPr>
        <p:spPr>
          <a:xfrm flipH="1">
            <a:off x="10980485" y="3978924"/>
            <a:ext cx="4891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E7223B59-D43D-466A-8AD5-6E3529A47FA6}"/>
              </a:ext>
            </a:extLst>
          </p:cNvPr>
          <p:cNvCxnSpPr>
            <a:cxnSpLocks/>
          </p:cNvCxnSpPr>
          <p:nvPr/>
        </p:nvCxnSpPr>
        <p:spPr>
          <a:xfrm flipH="1">
            <a:off x="10969109" y="3702796"/>
            <a:ext cx="4891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720EDF1-258A-48C1-931B-01B282E80B89}"/>
              </a:ext>
            </a:extLst>
          </p:cNvPr>
          <p:cNvCxnSpPr>
            <a:cxnSpLocks/>
          </p:cNvCxnSpPr>
          <p:nvPr/>
        </p:nvCxnSpPr>
        <p:spPr>
          <a:xfrm flipH="1">
            <a:off x="10981831" y="3429000"/>
            <a:ext cx="4891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984DF5B0-AB93-40DA-BA43-BF2149C58A58}"/>
              </a:ext>
            </a:extLst>
          </p:cNvPr>
          <p:cNvCxnSpPr>
            <a:cxnSpLocks/>
          </p:cNvCxnSpPr>
          <p:nvPr/>
        </p:nvCxnSpPr>
        <p:spPr>
          <a:xfrm flipH="1">
            <a:off x="10987054" y="3125126"/>
            <a:ext cx="4891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FEC3B69C-8128-4260-9996-FB5EC1C647FD}"/>
              </a:ext>
            </a:extLst>
          </p:cNvPr>
          <p:cNvCxnSpPr>
            <a:cxnSpLocks/>
          </p:cNvCxnSpPr>
          <p:nvPr/>
        </p:nvCxnSpPr>
        <p:spPr>
          <a:xfrm flipH="1">
            <a:off x="10980485" y="2803993"/>
            <a:ext cx="4891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73623843-FB51-4771-81C8-3794B70EA8BF}"/>
              </a:ext>
            </a:extLst>
          </p:cNvPr>
          <p:cNvCxnSpPr>
            <a:cxnSpLocks/>
          </p:cNvCxnSpPr>
          <p:nvPr/>
        </p:nvCxnSpPr>
        <p:spPr>
          <a:xfrm flipH="1">
            <a:off x="10980485" y="2531778"/>
            <a:ext cx="4891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7B04699C-6ABC-46CA-B796-767D45F039BF}"/>
              </a:ext>
            </a:extLst>
          </p:cNvPr>
          <p:cNvCxnSpPr>
            <a:cxnSpLocks/>
          </p:cNvCxnSpPr>
          <p:nvPr/>
        </p:nvCxnSpPr>
        <p:spPr>
          <a:xfrm flipH="1">
            <a:off x="10980485" y="2207894"/>
            <a:ext cx="4891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F751803-1FFC-7CC8-4157-7BBE0B671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02454"/>
              </p:ext>
            </p:extLst>
          </p:nvPr>
        </p:nvGraphicFramePr>
        <p:xfrm>
          <a:off x="1036148" y="1778972"/>
          <a:ext cx="9944337" cy="44016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15559">
                  <a:extLst>
                    <a:ext uri="{9D8B030D-6E8A-4147-A177-3AD203B41FA5}">
                      <a16:colId xmlns:a16="http://schemas.microsoft.com/office/drawing/2014/main" val="75644949"/>
                    </a:ext>
                  </a:extLst>
                </a:gridCol>
                <a:gridCol w="3296828">
                  <a:extLst>
                    <a:ext uri="{9D8B030D-6E8A-4147-A177-3AD203B41FA5}">
                      <a16:colId xmlns:a16="http://schemas.microsoft.com/office/drawing/2014/main" val="553028024"/>
                    </a:ext>
                  </a:extLst>
                </a:gridCol>
                <a:gridCol w="3331950">
                  <a:extLst>
                    <a:ext uri="{9D8B030D-6E8A-4147-A177-3AD203B41FA5}">
                      <a16:colId xmlns:a16="http://schemas.microsoft.com/office/drawing/2014/main" val="1172403390"/>
                    </a:ext>
                  </a:extLst>
                </a:gridCol>
              </a:tblGrid>
              <a:tr h="2159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變數</a:t>
                      </a:r>
                      <a:endParaRPr lang="zh-TW" sz="1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定義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原始資料類別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2208387921"/>
                  </a:ext>
                </a:extLst>
              </a:tr>
              <a:tr h="287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Team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球隊名稱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文字資料 (object)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1644147294"/>
                  </a:ext>
                </a:extLst>
              </a:tr>
              <a:tr h="305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G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比賽數</a:t>
                      </a:r>
                      <a:endParaRPr lang="zh-TW" sz="1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數值資料 (int64)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787586515"/>
                  </a:ext>
                </a:extLst>
              </a:tr>
              <a:tr h="305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H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安打數</a:t>
                      </a:r>
                      <a:endParaRPr lang="zh-TW" sz="1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數值資料 (int64)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3585892930"/>
                  </a:ext>
                </a:extLst>
              </a:tr>
              <a:tr h="287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H1B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一壘安打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數值資料 (int64)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3539770324"/>
                  </a:ext>
                </a:extLst>
              </a:tr>
              <a:tr h="305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H2B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二壘安打</a:t>
                      </a:r>
                      <a:endParaRPr lang="zh-TW" sz="1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數值資料 (int64)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3230216992"/>
                  </a:ext>
                </a:extLst>
              </a:tr>
              <a:tr h="287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H3B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三壘安打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數值資料</a:t>
                      </a:r>
                      <a:r>
                        <a:rPr lang="en-US" sz="1600" kern="0" dirty="0">
                          <a:effectLst/>
                        </a:rPr>
                        <a:t> (int64)</a:t>
                      </a:r>
                      <a:endParaRPr lang="zh-TW" sz="1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2403299359"/>
                  </a:ext>
                </a:extLst>
              </a:tr>
              <a:tr h="305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HR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全壘打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數值資料</a:t>
                      </a:r>
                      <a:r>
                        <a:rPr lang="en-US" sz="1600" kern="0" dirty="0">
                          <a:effectLst/>
                        </a:rPr>
                        <a:t> (int64)</a:t>
                      </a:r>
                      <a:endParaRPr lang="zh-TW" sz="1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2323017966"/>
                  </a:ext>
                </a:extLst>
              </a:tr>
              <a:tr h="287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RBI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打點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數值資料</a:t>
                      </a:r>
                      <a:r>
                        <a:rPr lang="en-US" sz="1600" kern="0" dirty="0">
                          <a:effectLst/>
                        </a:rPr>
                        <a:t> (int64)</a:t>
                      </a:r>
                      <a:endParaRPr lang="zh-TW" sz="1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3254315641"/>
                  </a:ext>
                </a:extLst>
              </a:tr>
              <a:tr h="305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BB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四壞球/保送數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數值資料</a:t>
                      </a:r>
                      <a:r>
                        <a:rPr lang="en-US" sz="1600" kern="0" dirty="0">
                          <a:effectLst/>
                        </a:rPr>
                        <a:t> (int64)</a:t>
                      </a:r>
                      <a:endParaRPr lang="zh-TW" sz="1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392019007"/>
                  </a:ext>
                </a:extLst>
              </a:tr>
              <a:tr h="287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SO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三振數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數值資料</a:t>
                      </a:r>
                      <a:r>
                        <a:rPr lang="en-US" sz="1600" kern="0" dirty="0">
                          <a:effectLst/>
                        </a:rPr>
                        <a:t> (int64)</a:t>
                      </a:r>
                      <a:endParaRPr lang="zh-TW" sz="1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205876153"/>
                  </a:ext>
                </a:extLst>
              </a:tr>
              <a:tr h="305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SB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盜壘數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數值資料 (int64)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280795097"/>
                  </a:ext>
                </a:extLst>
              </a:tr>
              <a:tr h="287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AVG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打擊率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數值資料</a:t>
                      </a:r>
                      <a:r>
                        <a:rPr lang="en-US" sz="1600" kern="0" dirty="0">
                          <a:effectLst/>
                        </a:rPr>
                        <a:t> (float64)</a:t>
                      </a:r>
                      <a:endParaRPr lang="zh-TW" sz="1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3744057344"/>
                  </a:ext>
                </a:extLst>
              </a:tr>
              <a:tr h="287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OBP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上壘率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數值資料</a:t>
                      </a:r>
                      <a:r>
                        <a:rPr lang="en-US" sz="1600" kern="0" dirty="0">
                          <a:effectLst/>
                        </a:rPr>
                        <a:t> (float64)</a:t>
                      </a:r>
                      <a:endParaRPr lang="zh-TW" sz="1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3609293025"/>
                  </a:ext>
                </a:extLst>
              </a:tr>
              <a:tr h="287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R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得分</a:t>
                      </a:r>
                      <a:endParaRPr lang="zh-TW" sz="16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數值資料</a:t>
                      </a:r>
                      <a:r>
                        <a:rPr lang="en-US" sz="1600" kern="0" dirty="0">
                          <a:effectLst/>
                        </a:rPr>
                        <a:t> (int64)</a:t>
                      </a:r>
                      <a:endParaRPr lang="zh-TW" sz="16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2519" marR="52519" marT="0" marB="0"/>
                </a:tc>
                <a:extLst>
                  <a:ext uri="{0D108BD9-81ED-4DB2-BD59-A6C34878D82A}">
                    <a16:rowId xmlns:a16="http://schemas.microsoft.com/office/drawing/2014/main" val="766556092"/>
                  </a:ext>
                </a:extLst>
              </a:tr>
            </a:tbl>
          </a:graphicData>
        </a:graphic>
      </p:graphicFrame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A183917-C55A-7967-A893-78B380D90E35}"/>
              </a:ext>
            </a:extLst>
          </p:cNvPr>
          <p:cNvCxnSpPr>
            <a:cxnSpLocks/>
          </p:cNvCxnSpPr>
          <p:nvPr/>
        </p:nvCxnSpPr>
        <p:spPr>
          <a:xfrm flipH="1">
            <a:off x="10974797" y="5182974"/>
            <a:ext cx="47778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1F92799D-5605-21E2-8C45-446CED885924}"/>
              </a:ext>
            </a:extLst>
          </p:cNvPr>
          <p:cNvCxnSpPr>
            <a:cxnSpLocks/>
          </p:cNvCxnSpPr>
          <p:nvPr/>
        </p:nvCxnSpPr>
        <p:spPr>
          <a:xfrm flipH="1">
            <a:off x="10969109" y="5466002"/>
            <a:ext cx="47778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E5AD1CB1-D494-7D5E-BEFB-902591A3F150}"/>
              </a:ext>
            </a:extLst>
          </p:cNvPr>
          <p:cNvCxnSpPr>
            <a:cxnSpLocks/>
          </p:cNvCxnSpPr>
          <p:nvPr/>
        </p:nvCxnSpPr>
        <p:spPr>
          <a:xfrm flipH="1">
            <a:off x="10980485" y="5767692"/>
            <a:ext cx="47778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D8D89E81-3EEB-D46B-B5A8-B0F5725126D6}"/>
              </a:ext>
            </a:extLst>
          </p:cNvPr>
          <p:cNvCxnSpPr>
            <a:cxnSpLocks/>
          </p:cNvCxnSpPr>
          <p:nvPr/>
        </p:nvCxnSpPr>
        <p:spPr>
          <a:xfrm flipH="1">
            <a:off x="10974797" y="4884394"/>
            <a:ext cx="47778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454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4F8D6899-AD47-1A4E-A84F-9342B738A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FE4481E5-B12D-AC4A-88DA-930E8A1CB0D7}"/>
              </a:ext>
            </a:extLst>
          </p:cNvPr>
          <p:cNvSpPr txBox="1"/>
          <p:nvPr/>
        </p:nvSpPr>
        <p:spPr>
          <a:xfrm>
            <a:off x="2684886" y="301619"/>
            <a:ext cx="50342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資料</a:t>
            </a: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前處理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2" name="圖片 1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240BD0BA-1E37-2D1D-CAFE-6D1E6BDDB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83" y="1453205"/>
            <a:ext cx="5494092" cy="3951589"/>
          </a:xfrm>
          <a:prstGeom prst="rect">
            <a:avLst/>
          </a:prstGeom>
        </p:spPr>
      </p:pic>
      <p:pic>
        <p:nvPicPr>
          <p:cNvPr id="3" name="圖片 2" descr="一張含有 文字, 字型, 行, 電子藍 的圖片&#10;&#10;自動產生的描述">
            <a:extLst>
              <a:ext uri="{FF2B5EF4-FFF2-40B4-BE49-F238E27FC236}">
                <a16:creationId xmlns:a16="http://schemas.microsoft.com/office/drawing/2014/main" id="{A7423712-33DC-C197-6482-EEA3D7D7F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89" y="5517897"/>
            <a:ext cx="2126270" cy="63857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214F98D-05C1-130C-4BF9-550BA3022887}"/>
              </a:ext>
            </a:extLst>
          </p:cNvPr>
          <p:cNvSpPr txBox="1"/>
          <p:nvPr/>
        </p:nvSpPr>
        <p:spPr>
          <a:xfrm>
            <a:off x="6317673" y="1427741"/>
            <a:ext cx="4858875" cy="4410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"/>
              <a:tabLst>
                <a:tab pos="457200" algn="l"/>
              </a:tabLst>
            </a:pPr>
            <a:r>
              <a:rPr lang="zh-TW" altLang="zh-TW" sz="18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有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30 </a:t>
            </a:r>
            <a:r>
              <a:rPr lang="zh-TW" altLang="zh-TW" sz="18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筆記錄（球隊）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，每條記錄有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14 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個變數。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"/>
            </a:pP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Team: 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球隊名稱（類型：字符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chr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"/>
            </a:pP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G: 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比賽場數（類型：整數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int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"/>
            </a:pP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 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到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SB: 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包括得分（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）、安打（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）、單壘安打（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H1B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）、雙壘安打（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H2B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）、三壘安打（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H3B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）、全壘打（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HR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）、打點（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RBI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）、四壞球（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BB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）、三振（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）、盜壘（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SB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），這些都是整數類型。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"/>
            </a:pP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AVG 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和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OBP: 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打擊率和上壘率，為數值類型（</a:t>
            </a:r>
            <a:r>
              <a:rPr lang="en-US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num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"/>
            </a:pPr>
            <a:r>
              <a:rPr lang="zh-TW" altLang="zh-TW" sz="18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沒有缺失值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，所有變數的數據都完整</a:t>
            </a:r>
          </a:p>
        </p:txBody>
      </p:sp>
    </p:spTree>
    <p:extLst>
      <p:ext uri="{BB962C8B-B14F-4D97-AF65-F5344CB8AC3E}">
        <p14:creationId xmlns:p14="http://schemas.microsoft.com/office/powerpoint/2010/main" val="378109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DBD170A-F3B8-40F4-A2D3-EA6121288AE2}"/>
              </a:ext>
            </a:extLst>
          </p:cNvPr>
          <p:cNvGrpSpPr/>
          <p:nvPr/>
        </p:nvGrpSpPr>
        <p:grpSpPr>
          <a:xfrm flipH="1">
            <a:off x="0" y="0"/>
            <a:ext cx="12121268" cy="7412573"/>
            <a:chOff x="70727" y="-25758"/>
            <a:chExt cx="12121268" cy="7412573"/>
          </a:xfrm>
        </p:grpSpPr>
        <p:sp>
          <p:nvSpPr>
            <p:cNvPr id="5" name="平行四边形 3">
              <a:extLst>
                <a:ext uri="{FF2B5EF4-FFF2-40B4-BE49-F238E27FC236}">
                  <a16:creationId xmlns:a16="http://schemas.microsoft.com/office/drawing/2014/main" id="{DD5FB1E1-0FE6-469A-AEAD-7C10AF30F9EC}"/>
                </a:ext>
              </a:extLst>
            </p:cNvPr>
            <p:cNvSpPr/>
            <p:nvPr/>
          </p:nvSpPr>
          <p:spPr>
            <a:xfrm flipH="1">
              <a:off x="194825" y="-25758"/>
              <a:ext cx="5012144" cy="6883758"/>
            </a:xfrm>
            <a:custGeom>
              <a:avLst/>
              <a:gdLst>
                <a:gd name="connsiteX0" fmla="*/ 0 w 4211392"/>
                <a:gd name="connsiteY0" fmla="*/ 6858000 h 6858000"/>
                <a:gd name="connsiteX1" fmla="*/ 1052848 w 4211392"/>
                <a:gd name="connsiteY1" fmla="*/ 0 h 6858000"/>
                <a:gd name="connsiteX2" fmla="*/ 4211392 w 4211392"/>
                <a:gd name="connsiteY2" fmla="*/ 0 h 6858000"/>
                <a:gd name="connsiteX3" fmla="*/ 3158544 w 4211392"/>
                <a:gd name="connsiteY3" fmla="*/ 6858000 h 6858000"/>
                <a:gd name="connsiteX4" fmla="*/ 0 w 4211392"/>
                <a:gd name="connsiteY4" fmla="*/ 6858000 h 6858000"/>
                <a:gd name="connsiteX0" fmla="*/ 0 w 4211392"/>
                <a:gd name="connsiteY0" fmla="*/ 6883758 h 6883758"/>
                <a:gd name="connsiteX1" fmla="*/ 1696792 w 4211392"/>
                <a:gd name="connsiteY1" fmla="*/ 0 h 6883758"/>
                <a:gd name="connsiteX2" fmla="*/ 4211392 w 4211392"/>
                <a:gd name="connsiteY2" fmla="*/ 25758 h 6883758"/>
                <a:gd name="connsiteX3" fmla="*/ 3158544 w 4211392"/>
                <a:gd name="connsiteY3" fmla="*/ 6883758 h 6883758"/>
                <a:gd name="connsiteX4" fmla="*/ 0 w 4211392"/>
                <a:gd name="connsiteY4" fmla="*/ 6883758 h 6883758"/>
                <a:gd name="connsiteX0" fmla="*/ 0 w 4211392"/>
                <a:gd name="connsiteY0" fmla="*/ 6883758 h 6883758"/>
                <a:gd name="connsiteX1" fmla="*/ 1696792 w 4211392"/>
                <a:gd name="connsiteY1" fmla="*/ 0 h 6883758"/>
                <a:gd name="connsiteX2" fmla="*/ 4211392 w 4211392"/>
                <a:gd name="connsiteY2" fmla="*/ 25758 h 6883758"/>
                <a:gd name="connsiteX3" fmla="*/ 2720663 w 4211392"/>
                <a:gd name="connsiteY3" fmla="*/ 6883758 h 6883758"/>
                <a:gd name="connsiteX4" fmla="*/ 0 w 4211392"/>
                <a:gd name="connsiteY4" fmla="*/ 6883758 h 6883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11392" h="6883758">
                  <a:moveTo>
                    <a:pt x="0" y="6883758"/>
                  </a:moveTo>
                  <a:lnTo>
                    <a:pt x="1696792" y="0"/>
                  </a:lnTo>
                  <a:lnTo>
                    <a:pt x="4211392" y="25758"/>
                  </a:lnTo>
                  <a:lnTo>
                    <a:pt x="2720663" y="6883758"/>
                  </a:lnTo>
                  <a:lnTo>
                    <a:pt x="0" y="688375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14A067C-54E1-4A30-82A6-00091A18C3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258" b="-5258"/>
            <a:stretch/>
          </p:blipFill>
          <p:spPr>
            <a:xfrm flipH="1">
              <a:off x="70727" y="1900415"/>
              <a:ext cx="6129270" cy="5486400"/>
            </a:xfrm>
            <a:prstGeom prst="rect">
              <a:avLst/>
            </a:prstGeom>
          </p:spPr>
        </p:pic>
        <p:sp>
          <p:nvSpPr>
            <p:cNvPr id="7" name="直角三角形 6">
              <a:extLst>
                <a:ext uri="{FF2B5EF4-FFF2-40B4-BE49-F238E27FC236}">
                  <a16:creationId xmlns:a16="http://schemas.microsoft.com/office/drawing/2014/main" id="{D35444C3-A53E-4F60-8B29-A40A1350DE66}"/>
                </a:ext>
              </a:extLst>
            </p:cNvPr>
            <p:cNvSpPr/>
            <p:nvPr/>
          </p:nvSpPr>
          <p:spPr>
            <a:xfrm flipH="1" flipV="1">
              <a:off x="10457645" y="-6"/>
              <a:ext cx="1734350" cy="5022767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963C1AD6-C318-4C01-BB21-95F63B588A71}"/>
              </a:ext>
            </a:extLst>
          </p:cNvPr>
          <p:cNvSpPr txBox="1"/>
          <p:nvPr/>
        </p:nvSpPr>
        <p:spPr>
          <a:xfrm>
            <a:off x="1108894" y="1230815"/>
            <a:ext cx="2754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庞门正道标题体" panose="02010600030101010101" pitchFamily="2" charset="-122"/>
                <a:ea typeface="庞门正道标题体" panose="02010600030101010101" pitchFamily="2" charset="-122"/>
              </a:rPr>
              <a:t>PART TWO</a:t>
            </a:r>
            <a:endParaRPr lang="zh-CN" altLang="en-US" sz="3600" dirty="0">
              <a:latin typeface="庞门正道标题体" panose="02010600030101010101" pitchFamily="2" charset="-122"/>
              <a:ea typeface="庞门正道标题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B7FC30-6145-47D2-AB2C-62DE99D527A0}"/>
              </a:ext>
            </a:extLst>
          </p:cNvPr>
          <p:cNvSpPr txBox="1"/>
          <p:nvPr/>
        </p:nvSpPr>
        <p:spPr>
          <a:xfrm>
            <a:off x="1108894" y="1877146"/>
            <a:ext cx="11642931" cy="1413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4800" b="1" dirty="0">
                <a:latin typeface="Lantinghei SC Heavy" panose="02000000000000000000" pitchFamily="2" charset="-122"/>
                <a:ea typeface="Lantinghei SC Heavy" panose="02000000000000000000" pitchFamily="2" charset="-122"/>
              </a:rPr>
              <a:t>統計方法分析</a:t>
            </a:r>
            <a:br>
              <a:rPr lang="en-US" altLang="zh-CN" sz="4800" b="1" dirty="0">
                <a:latin typeface="Lantinghei SC Heavy" panose="02000000000000000000" pitchFamily="2" charset="-122"/>
                <a:ea typeface="Lantinghei SC Heavy" panose="02000000000000000000" pitchFamily="2" charset="-122"/>
              </a:rPr>
            </a:br>
            <a:endParaRPr lang="zh-CN" altLang="en-US" sz="2000" b="1" dirty="0">
              <a:latin typeface="Lantinghei SC Heavy" panose="02000000000000000000" pitchFamily="2" charset="-122"/>
              <a:ea typeface="Lantinghei SC Heavy" panose="02000000000000000000" pitchFamily="2" charset="-122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79E70B7-1A14-8FE1-258F-FA90112181FA}"/>
              </a:ext>
            </a:extLst>
          </p:cNvPr>
          <p:cNvSpPr txBox="1"/>
          <p:nvPr/>
        </p:nvSpPr>
        <p:spPr>
          <a:xfrm>
            <a:off x="1095890" y="3037011"/>
            <a:ext cx="3262975" cy="2265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600" dirty="0">
                <a:latin typeface="庞门正道标题体" panose="02010600030101010101" pitchFamily="2" charset="-122"/>
                <a:ea typeface="庞门正道标题体" panose="02010600030101010101" pitchFamily="2" charset="-122"/>
              </a:rPr>
              <a:t>PCA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600" dirty="0">
                <a:latin typeface="庞门正道标题体" panose="02010600030101010101" pitchFamily="2" charset="-122"/>
                <a:ea typeface="庞门正道标题体" panose="02010600030101010101" pitchFamily="2" charset="-122"/>
              </a:rPr>
              <a:t>聚類分析</a:t>
            </a:r>
            <a:endParaRPr lang="en-US" altLang="zh-TW" sz="2600" dirty="0">
              <a:latin typeface="庞门正道标题体" panose="02010600030101010101" pitchFamily="2" charset="-122"/>
              <a:ea typeface="庞门正道标题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600" dirty="0">
                <a:latin typeface="庞门正道标题体" panose="02010600030101010101" pitchFamily="2" charset="-122"/>
                <a:ea typeface="庞门正道标题体" panose="02010600030101010101" pitchFamily="2" charset="-122"/>
              </a:rPr>
              <a:t>迴歸分析</a:t>
            </a:r>
            <a:endParaRPr lang="en-US" altLang="zh-TW" sz="2600" dirty="0">
              <a:latin typeface="庞门正道标题体" panose="02010600030101010101" pitchFamily="2" charset="-122"/>
              <a:ea typeface="庞门正道标题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6898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4EB4E-CFA1-D4F3-C0D5-766506336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A85252D7-B568-CAE5-5ACD-EE5E0EC8A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BA5FC9D0-9326-8B43-AFF2-168E792BDD29}"/>
              </a:ext>
            </a:extLst>
          </p:cNvPr>
          <p:cNvSpPr txBox="1"/>
          <p:nvPr/>
        </p:nvSpPr>
        <p:spPr>
          <a:xfrm>
            <a:off x="1265974" y="184005"/>
            <a:ext cx="8026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PCA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DB09190-4753-0838-9A7F-46699DD05331}"/>
              </a:ext>
            </a:extLst>
          </p:cNvPr>
          <p:cNvSpPr txBox="1"/>
          <p:nvPr/>
        </p:nvSpPr>
        <p:spPr>
          <a:xfrm>
            <a:off x="7481031" y="1211442"/>
            <a:ext cx="3622610" cy="52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PC1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（第一主成分）：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主要由變數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RBI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-0.65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）、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H2B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-0.51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 和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H1B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-0.41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）主導。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HR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和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H3B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的貢獻較小，而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SB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和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BB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對這一主成分的影響接近於零或為正。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解讀：第一主成分可能表示球隊打擊表現的綜合指標，特別是與安打（單壘打、二壘打）和打點相關。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PC2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（第二主成分）：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主要由變數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H3B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-0.56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 和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H1B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-0.47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）主導。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HR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對該主成分的貢獻為正（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0.54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解讀：第二主成分可能反映的是打擊類型的區分（比如長打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vs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短打）。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PC3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（第三主成分）：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主要由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BB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-0.78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 和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SB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-0.53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）主導。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H3B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和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RBI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也有一定的貢獻。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解讀：第三主成分可能反映的是跑壘策略和上壘率的特徵。</a:t>
            </a:r>
          </a:p>
        </p:txBody>
      </p:sp>
      <p:pic>
        <p:nvPicPr>
          <p:cNvPr id="6" name="圖片 5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35E5F38C-2C21-72D2-A084-370AB2E27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62" y="1371917"/>
            <a:ext cx="6098655" cy="459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92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ED34E-603D-8C8A-75A5-315A9E10E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B7BBC023-520D-28FD-5F32-A93F561A0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574634D1-777C-8779-5165-1D3290C5C0A4}"/>
              </a:ext>
            </a:extLst>
          </p:cNvPr>
          <p:cNvSpPr txBox="1"/>
          <p:nvPr/>
        </p:nvSpPr>
        <p:spPr>
          <a:xfrm>
            <a:off x="1265974" y="184005"/>
            <a:ext cx="8026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PCA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CFE398-967A-1023-306F-1FF5F8E41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35" y="132230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陡坡圖</a:t>
            </a:r>
            <a:endParaRPr kumimoji="0" lang="zh-TW" altLang="zh-T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圖片 1" descr="一張含有 行, 文字, 圖表, 繪圖 的圖片&#10;&#10;自動產生的描述">
            <a:extLst>
              <a:ext uri="{FF2B5EF4-FFF2-40B4-BE49-F238E27FC236}">
                <a16:creationId xmlns:a16="http://schemas.microsoft.com/office/drawing/2014/main" id="{5C84730F-C5D2-49BA-2D42-9251A75F5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870" y="1561431"/>
            <a:ext cx="7221894" cy="400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44C2E3B-CA7E-E2F9-DBEE-CD00445D4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35" y="47052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08D0AD1-E0FD-3619-DA1C-642D37DFF790}"/>
              </a:ext>
            </a:extLst>
          </p:cNvPr>
          <p:cNvSpPr txBox="1"/>
          <p:nvPr/>
        </p:nvSpPr>
        <p:spPr>
          <a:xfrm>
            <a:off x="9257491" y="1924974"/>
            <a:ext cx="2381277" cy="1317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特徵值大於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的主成份就可以選取；而且第三個以後的主成份變異趨於平緩，因此選擇前三個主成份是比較好的選擇。</a:t>
            </a:r>
            <a:endParaRPr lang="zh-TW" altLang="zh-TW" sz="1400" b="1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35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4F8D6899-AD47-1A4E-A84F-9342B738A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FE4481E5-B12D-AC4A-88DA-930E8A1CB0D7}"/>
              </a:ext>
            </a:extLst>
          </p:cNvPr>
          <p:cNvSpPr txBox="1"/>
          <p:nvPr/>
        </p:nvSpPr>
        <p:spPr>
          <a:xfrm>
            <a:off x="1265974" y="184005"/>
            <a:ext cx="8026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PCA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333D08D-0AC2-F3B2-3D35-FC509B6B153E}"/>
              </a:ext>
            </a:extLst>
          </p:cNvPr>
          <p:cNvSpPr txBox="1">
            <a:spLocks/>
          </p:cNvSpPr>
          <p:nvPr/>
        </p:nvSpPr>
        <p:spPr>
          <a:xfrm>
            <a:off x="95056" y="1009505"/>
            <a:ext cx="3813810" cy="4927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000" dirty="0"/>
              <a:t>主成分分析（</a:t>
            </a:r>
            <a:r>
              <a:rPr lang="en-US" altLang="zh-TW" sz="2000" dirty="0"/>
              <a:t>PCA</a:t>
            </a:r>
            <a:r>
              <a:rPr lang="zh-TW" altLang="en-US" sz="2000" dirty="0"/>
              <a:t>）的摘要</a:t>
            </a:r>
            <a:endParaRPr lang="en-US" altLang="zh-TW" sz="2000" dirty="0"/>
          </a:p>
        </p:txBody>
      </p:sp>
      <p:pic>
        <p:nvPicPr>
          <p:cNvPr id="4" name="內容版面配置區 4" descr="一張含有 文字, 字型, 白色, 螢幕擷取畫面 的圖片&#10;&#10;自動產生的描述">
            <a:extLst>
              <a:ext uri="{FF2B5EF4-FFF2-40B4-BE49-F238E27FC236}">
                <a16:creationId xmlns:a16="http://schemas.microsoft.com/office/drawing/2014/main" id="{74F3A2B8-CA47-0B35-63DC-C2678F723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94" y="1502230"/>
            <a:ext cx="4855148" cy="1133503"/>
          </a:xfrm>
          <a:prstGeom prst="rect">
            <a:avLst/>
          </a:prstGeom>
        </p:spPr>
      </p:pic>
      <p:pic>
        <p:nvPicPr>
          <p:cNvPr id="9" name="內容版面配置區 8" descr="一張含有 圖表, 文字, 行, 繪圖 的圖片&#10;&#10;自動產生的描述">
            <a:extLst>
              <a:ext uri="{FF2B5EF4-FFF2-40B4-BE49-F238E27FC236}">
                <a16:creationId xmlns:a16="http://schemas.microsoft.com/office/drawing/2014/main" id="{F33AE495-684B-1641-F18F-508A6E6CA3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086" y="2635733"/>
            <a:ext cx="7979134" cy="415392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5760BDF-2D8F-AA53-54FA-CD3BD1459544}"/>
              </a:ext>
            </a:extLst>
          </p:cNvPr>
          <p:cNvSpPr txBox="1"/>
          <p:nvPr/>
        </p:nvSpPr>
        <p:spPr>
          <a:xfrm>
            <a:off x="8113958" y="1647753"/>
            <a:ext cx="2653568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每個主成分解釋的變異百分比：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PC1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（第一主成分）：解釋了 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28.9% 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的變異，說明其在數據中具有最大的影響力。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PC2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（第二主成分）：解釋了 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27.1% 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的變異，與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PC1 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一起覆蓋了超過一半（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~56%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）的變異。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PC3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：解釋了 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14.6% 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的變異，貢獻開始顯著減少。</a:t>
            </a:r>
          </a:p>
          <a:p>
            <a:r>
              <a:rPr lang="zh-TW" altLang="zh-TW" sz="1400" b="1" i="1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當我們取前三個主成份，可以解釋</a:t>
            </a:r>
            <a:r>
              <a:rPr lang="en-US" altLang="zh-TW" sz="1400" b="1" i="1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70.64% </a:t>
            </a:r>
            <a:r>
              <a:rPr lang="zh-TW" altLang="zh-TW" sz="1400" b="1" i="1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的變異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91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CF545-8BD8-7CF7-5FF0-76C19E45D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F4882C8D-76C7-2BA8-9D6B-3BEEBB248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65764E33-A56F-6360-944D-043F3D7BCD3C}"/>
              </a:ext>
            </a:extLst>
          </p:cNvPr>
          <p:cNvSpPr txBox="1"/>
          <p:nvPr/>
        </p:nvSpPr>
        <p:spPr>
          <a:xfrm>
            <a:off x="1265974" y="184005"/>
            <a:ext cx="8026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PCA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4" name="圖片 3" descr="一張含有 文字, 字型, 螢幕擷取畫面, 行 的圖片&#10;&#10;自動產生的描述">
            <a:extLst>
              <a:ext uri="{FF2B5EF4-FFF2-40B4-BE49-F238E27FC236}">
                <a16:creationId xmlns:a16="http://schemas.microsoft.com/office/drawing/2014/main" id="{FC2C0071-4465-10DA-435E-04A9B1795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90" y="1185024"/>
            <a:ext cx="7499608" cy="707885"/>
          </a:xfrm>
          <a:prstGeom prst="rect">
            <a:avLst/>
          </a:prstGeom>
        </p:spPr>
      </p:pic>
      <p:pic>
        <p:nvPicPr>
          <p:cNvPr id="5" name="圖片 4" descr="一張含有 文字, 螢幕擷取畫面, 行, 字型 的圖片&#10;&#10;自動產生的描述">
            <a:extLst>
              <a:ext uri="{FF2B5EF4-FFF2-40B4-BE49-F238E27FC236}">
                <a16:creationId xmlns:a16="http://schemas.microsoft.com/office/drawing/2014/main" id="{79AD674C-2B0D-B2F5-193A-08DFCC1C2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395" y="1892908"/>
            <a:ext cx="7787578" cy="425850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49B84B7-F738-D8CF-65DB-751E9D8C977F}"/>
              </a:ext>
            </a:extLst>
          </p:cNvPr>
          <p:cNvSpPr txBox="1"/>
          <p:nvPr/>
        </p:nvSpPr>
        <p:spPr>
          <a:xfrm>
            <a:off x="8620973" y="1538966"/>
            <a:ext cx="2385576" cy="1209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第一主成份</a:t>
            </a: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: SB(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盜壘</a:t>
            </a: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BB(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四壞球</a:t>
            </a: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與</a:t>
            </a: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PC-1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呈現正相關，看起來和「上壘」有關。</a:t>
            </a:r>
            <a:endParaRPr lang="zh-TW" altLang="zh-TW" sz="1600" b="1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97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E561D-EDB4-066C-8D09-8E5804D7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4DA6DB5-6FFA-4D43-649E-003D530D5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91CA0C0B-7DC9-6443-0B68-B95A5835C55A}"/>
              </a:ext>
            </a:extLst>
          </p:cNvPr>
          <p:cNvSpPr txBox="1"/>
          <p:nvPr/>
        </p:nvSpPr>
        <p:spPr>
          <a:xfrm>
            <a:off x="1265974" y="184005"/>
            <a:ext cx="8026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PCA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2" name="圖片 1" descr="一張含有 文字, 字型, 螢幕擷取畫面, 行 的圖片&#10;&#10;自動產生的描述">
            <a:extLst>
              <a:ext uri="{FF2B5EF4-FFF2-40B4-BE49-F238E27FC236}">
                <a16:creationId xmlns:a16="http://schemas.microsoft.com/office/drawing/2014/main" id="{CA9B4D83-B711-8969-B5BF-D9E8CCBF1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88" y="1179713"/>
            <a:ext cx="4983480" cy="961453"/>
          </a:xfrm>
          <a:prstGeom prst="rect">
            <a:avLst/>
          </a:prstGeom>
        </p:spPr>
      </p:pic>
      <p:pic>
        <p:nvPicPr>
          <p:cNvPr id="3" name="圖片 2" descr="一張含有 文字, 螢幕擷取畫面, 行, 字型 的圖片&#10;&#10;自動產生的描述">
            <a:extLst>
              <a:ext uri="{FF2B5EF4-FFF2-40B4-BE49-F238E27FC236}">
                <a16:creationId xmlns:a16="http://schemas.microsoft.com/office/drawing/2014/main" id="{A8EB4EC4-BF55-BA01-9D1A-9CEA1F105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88" y="2258780"/>
            <a:ext cx="7856912" cy="426671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8E3F13E-8842-AFB4-9C4F-B8707F65CC66}"/>
              </a:ext>
            </a:extLst>
          </p:cNvPr>
          <p:cNvSpPr txBox="1"/>
          <p:nvPr/>
        </p:nvSpPr>
        <p:spPr>
          <a:xfrm>
            <a:off x="8139404" y="1634142"/>
            <a:ext cx="2562808" cy="1069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第二主成份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: HR(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全壘打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BB(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四壞球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RBI(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打點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與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PC-2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呈現正相關，看起來和「打擊者」有關。</a:t>
            </a:r>
            <a:endParaRPr lang="zh-TW" altLang="zh-TW" sz="1400" b="1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723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8D699-F128-1ADD-4D76-EFC842B39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5CE9E569-0781-DA1B-7A39-5300A7A13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149B9BA4-81FA-FFD0-0C6F-92EFB65A4136}"/>
              </a:ext>
            </a:extLst>
          </p:cNvPr>
          <p:cNvSpPr txBox="1"/>
          <p:nvPr/>
        </p:nvSpPr>
        <p:spPr>
          <a:xfrm>
            <a:off x="1265974" y="184005"/>
            <a:ext cx="8026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PCA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2" name="圖片 1" descr="一張含有 文字, 字型, 螢幕擷取畫面, 行 的圖片&#10;&#10;自動產生的描述">
            <a:extLst>
              <a:ext uri="{FF2B5EF4-FFF2-40B4-BE49-F238E27FC236}">
                <a16:creationId xmlns:a16="http://schemas.microsoft.com/office/drawing/2014/main" id="{E91306A2-CE0B-7FCA-4AA4-455F0FA79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5" y="1095579"/>
            <a:ext cx="5383819" cy="992479"/>
          </a:xfrm>
          <a:prstGeom prst="rect">
            <a:avLst/>
          </a:prstGeom>
        </p:spPr>
      </p:pic>
      <p:pic>
        <p:nvPicPr>
          <p:cNvPr id="3" name="圖片 2" descr="一張含有 文字, 螢幕擷取畫面, 行, 字型 的圖片&#10;&#10;自動產生的描述">
            <a:extLst>
              <a:ext uri="{FF2B5EF4-FFF2-40B4-BE49-F238E27FC236}">
                <a16:creationId xmlns:a16="http://schemas.microsoft.com/office/drawing/2014/main" id="{BFFB99C8-170A-6172-0480-0CE7D7725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6" y="2205672"/>
            <a:ext cx="7302956" cy="429903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5242481-9AB7-797B-8B41-9E4FE97D1E01}"/>
              </a:ext>
            </a:extLst>
          </p:cNvPr>
          <p:cNvSpPr txBox="1"/>
          <p:nvPr/>
        </p:nvSpPr>
        <p:spPr>
          <a:xfrm>
            <a:off x="8001690" y="1383780"/>
            <a:ext cx="3064417" cy="821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第三主成份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: H1B(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一壘安打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H2B(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二壘安打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與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PC-3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呈現正相關，看起來和「安打」有關。</a:t>
            </a:r>
            <a:endParaRPr lang="zh-TW" altLang="zh-TW" sz="1400" b="1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67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9D549-EBB7-5904-29DF-6A822A7E4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C5171C4E-11B6-CD4C-10F4-F24C1BA00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3C446DD6-0178-CCC0-73FB-6D8355C7F76A}"/>
              </a:ext>
            </a:extLst>
          </p:cNvPr>
          <p:cNvSpPr txBox="1"/>
          <p:nvPr/>
        </p:nvSpPr>
        <p:spPr>
          <a:xfrm>
            <a:off x="1265974" y="184005"/>
            <a:ext cx="8026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PCA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E3C4A6D-E378-4083-279E-16A29D42042B}"/>
              </a:ext>
            </a:extLst>
          </p:cNvPr>
          <p:cNvSpPr txBox="1">
            <a:spLocks/>
          </p:cNvSpPr>
          <p:nvPr/>
        </p:nvSpPr>
        <p:spPr>
          <a:xfrm>
            <a:off x="320039" y="1021838"/>
            <a:ext cx="3819525" cy="5231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000" dirty="0"/>
              <a:t>解釋主成分分析（權重）</a:t>
            </a:r>
            <a:endParaRPr lang="en-US" altLang="zh-TW" sz="2000" dirty="0"/>
          </a:p>
        </p:txBody>
      </p:sp>
      <p:pic>
        <p:nvPicPr>
          <p:cNvPr id="5" name="內容版面配置區 4" descr="一張含有 文字, 螢幕擷取畫面, 圖表, 行 的圖片&#10;&#10;自動產生的描述">
            <a:extLst>
              <a:ext uri="{FF2B5EF4-FFF2-40B4-BE49-F238E27FC236}">
                <a16:creationId xmlns:a16="http://schemas.microsoft.com/office/drawing/2014/main" id="{27AC8870-A587-3EF3-22F4-57943C997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4" y="1544985"/>
            <a:ext cx="11283315" cy="531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57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5306B-2E65-DA34-F98C-4F4AC6E15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CFA598ED-8177-97C0-5780-287BD19C8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BB2880AE-AC57-5696-CA1F-AE9E0503F22F}"/>
              </a:ext>
            </a:extLst>
          </p:cNvPr>
          <p:cNvSpPr txBox="1"/>
          <p:nvPr/>
        </p:nvSpPr>
        <p:spPr>
          <a:xfrm>
            <a:off x="1265974" y="184005"/>
            <a:ext cx="8026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PCA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3" name="圖片 2" descr="一張含有 圖表, 文字, 行, 螢幕擷取畫面 的圖片&#10;&#10;自動產生的描述">
            <a:extLst>
              <a:ext uri="{FF2B5EF4-FFF2-40B4-BE49-F238E27FC236}">
                <a16:creationId xmlns:a16="http://schemas.microsoft.com/office/drawing/2014/main" id="{276238D7-C0CC-9CFE-2098-915DE4123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37" y="1446032"/>
            <a:ext cx="7644104" cy="513205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6DF859C-9DEE-B5FF-57BF-B3841A231045}"/>
              </a:ext>
            </a:extLst>
          </p:cNvPr>
          <p:cNvSpPr txBox="1"/>
          <p:nvPr/>
        </p:nvSpPr>
        <p:spPr>
          <a:xfrm>
            <a:off x="445537" y="107670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kern="0" dirty="0">
                <a:solidFill>
                  <a:srgbClr val="000000"/>
                </a:solidFill>
                <a:effectLst/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PCA</a:t>
            </a:r>
            <a:r>
              <a:rPr lang="zh-TW" altLang="zh-TW" sz="1800" kern="0" dirty="0">
                <a:solidFill>
                  <a:srgbClr val="000000"/>
                </a:solidFill>
                <a:effectLst/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負荷圖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FD26F2E-A451-546E-8D36-CD04C8A9F8D6}"/>
              </a:ext>
            </a:extLst>
          </p:cNvPr>
          <p:cNvSpPr txBox="1"/>
          <p:nvPr/>
        </p:nvSpPr>
        <p:spPr>
          <a:xfrm>
            <a:off x="7732746" y="1378837"/>
            <a:ext cx="3342691" cy="286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編號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19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右邊的球隊適合上壘，多以盜壘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(SB)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和四壞球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(BB)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保送見長，全壘打表現中等。</a:t>
            </a:r>
            <a:endParaRPr lang="zh-TW" altLang="zh-TW" sz="14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編號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左上方的球隊以力量取勝，在全壘打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(HR)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和打點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(RBI)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上有顯著的優勢。</a:t>
            </a:r>
            <a:endParaRPr lang="zh-TW" altLang="zh-TW" sz="14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編號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5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下方的球隊不擅長全壘打，但在安打上的表現遠勝於其他球隊，盜壘也有一定水準</a:t>
            </a:r>
            <a:endParaRPr lang="zh-TW" altLang="zh-TW" sz="14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4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 </a:t>
            </a:r>
            <a:endParaRPr lang="zh-TW" altLang="zh-TW" sz="1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272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61FB6-86DA-3BF1-6D74-07ACC9EA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F40448F1-ACD3-70CA-A1D5-7B0E3E489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35B1966E-1272-D591-E47B-5642F06F47A3}"/>
              </a:ext>
            </a:extLst>
          </p:cNvPr>
          <p:cNvSpPr txBox="1"/>
          <p:nvPr/>
        </p:nvSpPr>
        <p:spPr>
          <a:xfrm>
            <a:off x="1215398" y="168336"/>
            <a:ext cx="80263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4000" b="1" dirty="0">
                <a:solidFill>
                  <a:schemeClr val="bg1"/>
                </a:solidFill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聚類分析</a:t>
            </a: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  <a:p>
            <a:pPr algn="ctr">
              <a:defRPr/>
            </a:pP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E2F23CA-E6E6-6503-2100-92F662245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61" y="1663390"/>
            <a:ext cx="9414536" cy="508896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557C15-CDA8-444A-3C1C-937814572D65}"/>
              </a:ext>
            </a:extLst>
          </p:cNvPr>
          <p:cNvSpPr txBox="1"/>
          <p:nvPr/>
        </p:nvSpPr>
        <p:spPr>
          <a:xfrm>
            <a:off x="9848897" y="1165668"/>
            <a:ext cx="224942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K-means </a:t>
            </a:r>
            <a:r>
              <a:rPr lang="zh-TW" altLang="en-US" sz="1600" b="1" dirty="0">
                <a:solidFill>
                  <a:srgbClr val="FF0000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分群結果將球隊分為三類：</a:t>
            </a:r>
            <a:endParaRPr lang="en-US" altLang="zh-TW" sz="1600" b="1" dirty="0">
              <a:solidFill>
                <a:srgbClr val="FF0000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r>
              <a:rPr lang="zh-TW" altLang="en-US" sz="1600" b="1" dirty="0">
                <a:solidFill>
                  <a:srgbClr val="FF0000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第一群（紅色點）為進攻型球隊，特徵是高得分、高全壘打數和高打擊率，在進攻上表現顯著；</a:t>
            </a:r>
            <a:endParaRPr lang="en-US" altLang="zh-TW" sz="1600" b="1" dirty="0">
              <a:solidFill>
                <a:srgbClr val="FF0000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r>
              <a:rPr lang="zh-TW" altLang="en-US" sz="1600" b="1" dirty="0">
                <a:solidFill>
                  <a:srgbClr val="FF0000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第二群（綠色點）為防守型球隊，得分和打點較低，更依賴防守和穩定性；</a:t>
            </a:r>
            <a:endParaRPr lang="en-US" altLang="zh-TW" sz="1600" b="1" dirty="0">
              <a:solidFill>
                <a:srgbClr val="FF0000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r>
              <a:rPr lang="zh-TW" altLang="en-US" sz="1600" b="1" dirty="0">
                <a:solidFill>
                  <a:srgbClr val="FF0000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第三群（藍色點）為綜合型球隊，得分和打擊率平均，在進攻與防守之間保持平衡。</a:t>
            </a:r>
            <a:endParaRPr lang="en-US" altLang="zh-TW" sz="1600" b="1" dirty="0">
              <a:solidFill>
                <a:srgbClr val="FF0000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r>
              <a:rPr lang="zh-TW" altLang="en-US" sz="1600" b="1" dirty="0">
                <a:solidFill>
                  <a:srgbClr val="FF0000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這三類群組反映了球隊不同的特徵和策略。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AB4B4FA-5B18-0A3D-64D4-9621A5E01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58" y="837890"/>
            <a:ext cx="5529007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43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4F8D6899-AD47-1A4E-A84F-9342B738A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FE4481E5-B12D-AC4A-88DA-930E8A1CB0D7}"/>
              </a:ext>
            </a:extLst>
          </p:cNvPr>
          <p:cNvSpPr txBox="1"/>
          <p:nvPr/>
        </p:nvSpPr>
        <p:spPr>
          <a:xfrm>
            <a:off x="1259624" y="184005"/>
            <a:ext cx="80263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4000" b="1" dirty="0">
                <a:solidFill>
                  <a:schemeClr val="bg1"/>
                </a:solidFill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聚類分析</a:t>
            </a: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  <a:p>
            <a:pPr algn="ctr">
              <a:defRPr/>
            </a:pP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18" name="圖片 17" descr="一張含有 圖表, 文字, 工程製圖, 方案 的圖片&#10;&#10;自動產生的描述">
            <a:extLst>
              <a:ext uri="{FF2B5EF4-FFF2-40B4-BE49-F238E27FC236}">
                <a16:creationId xmlns:a16="http://schemas.microsoft.com/office/drawing/2014/main" id="{4C8E530E-670E-A345-8B45-00E078F76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60" y="1298954"/>
            <a:ext cx="9080967" cy="5297789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06F032E4-B822-2024-63B8-973AB1F72EB2}"/>
              </a:ext>
            </a:extLst>
          </p:cNvPr>
          <p:cNvSpPr txBox="1"/>
          <p:nvPr/>
        </p:nvSpPr>
        <p:spPr>
          <a:xfrm>
            <a:off x="8575039" y="1264818"/>
            <a:ext cx="3302001" cy="3576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群組劃分：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根據樹枝的高度，可以選擇適當的切割層級將球隊分為</a:t>
            </a: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2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3 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或更多的群組。例如：</a:t>
            </a:r>
          </a:p>
          <a:p>
            <a:pPr marL="1143000" lvl="2" indent="-22860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若在高度</a:t>
            </a: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8 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處切割，可將球隊分為 </a:t>
            </a: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3 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大群組。</a:t>
            </a:r>
          </a:p>
          <a:p>
            <a:pPr marL="1143000" lvl="2" indent="-22860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若在高度</a:t>
            </a: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6 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或以下切割，則可能形成更細化的群組。</a:t>
            </a:r>
          </a:p>
        </p:txBody>
      </p:sp>
    </p:spTree>
    <p:extLst>
      <p:ext uri="{BB962C8B-B14F-4D97-AF65-F5344CB8AC3E}">
        <p14:creationId xmlns:p14="http://schemas.microsoft.com/office/powerpoint/2010/main" val="144114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A21F4-1D16-169F-1C76-B7A4E8BE6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55FFCD40-1641-A3EF-BBE1-F6116380A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B07112E2-DF02-9CA3-10AF-4CAD4D517C11}"/>
              </a:ext>
            </a:extLst>
          </p:cNvPr>
          <p:cNvSpPr txBox="1"/>
          <p:nvPr/>
        </p:nvSpPr>
        <p:spPr>
          <a:xfrm>
            <a:off x="1279944" y="139410"/>
            <a:ext cx="80263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4000" b="1" dirty="0">
                <a:solidFill>
                  <a:schemeClr val="bg1"/>
                </a:solidFill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聚類分析</a:t>
            </a: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  <a:p>
            <a:pPr algn="ctr">
              <a:defRPr/>
            </a:pP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CEDF73F-BB36-65C6-EB68-D07A7F7C776A}"/>
              </a:ext>
            </a:extLst>
          </p:cNvPr>
          <p:cNvSpPr txBox="1"/>
          <p:nvPr/>
        </p:nvSpPr>
        <p:spPr>
          <a:xfrm>
            <a:off x="5671860" y="1462849"/>
            <a:ext cx="5101588" cy="435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effectLst/>
              </a:rPr>
              <a:t>結果解釋</a:t>
            </a:r>
            <a:endParaRPr lang="zh-TW" altLang="zh-TW" sz="1400" dirty="0">
              <a:effectLst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12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第一大群組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（圖左側）：</a:t>
            </a:r>
          </a:p>
          <a:p>
            <a:pPr marL="1143000" lvl="2" indent="-22860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包含</a:t>
            </a:r>
            <a:r>
              <a:rPr lang="en-US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26</a:t>
            </a:r>
            <a:r>
              <a:rPr lang="zh-TW" altLang="zh-TW" sz="1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28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30 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等球隊（球隊編號假設從數據中提取）。</a:t>
            </a:r>
          </a:p>
          <a:p>
            <a:pPr marL="1143000" lvl="2" indent="-22860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根據之前的數據分析，這一群可能</a:t>
            </a:r>
            <a:r>
              <a:rPr lang="zh-TW" altLang="zh-TW" sz="1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是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進攻型球隊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，因為這些球隊可能具有更高的得分（</a:t>
            </a:r>
            <a:r>
              <a:rPr lang="en-US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）、打擊率（</a:t>
            </a:r>
            <a:r>
              <a:rPr lang="en-US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AVG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）和全壘打數（</a:t>
            </a:r>
            <a:r>
              <a:rPr lang="en-US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HR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）。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12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第二大群組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（圖右側）：</a:t>
            </a:r>
          </a:p>
          <a:p>
            <a:pPr marL="1143000" lvl="2" indent="-22860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包含</a:t>
            </a:r>
            <a:r>
              <a:rPr lang="en-US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  <a:r>
              <a:rPr lang="zh-TW" altLang="zh-TW" sz="1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16 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等球隊。</a:t>
            </a:r>
          </a:p>
          <a:p>
            <a:pPr marL="1143000" lvl="2" indent="-22860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這些球隊可能</a:t>
            </a:r>
            <a:r>
              <a:rPr lang="zh-TW" altLang="zh-TW" sz="1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是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防守型球隊</a:t>
            </a:r>
            <a:r>
              <a:rPr lang="zh-TW" altLang="zh-TW" sz="1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特徵是低得分，但可能依靠較高的防守效率（如較少的失分、穩定的投手表現）取勝。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12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第三大群組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（中間部分）：</a:t>
            </a:r>
          </a:p>
          <a:p>
            <a:pPr marL="1143000" lvl="2" indent="-22860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例如包含</a:t>
            </a:r>
            <a:r>
              <a:rPr lang="en-US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r>
              <a:rPr lang="zh-TW" altLang="zh-TW" sz="1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3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6 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等球隊。</a:t>
            </a:r>
          </a:p>
          <a:p>
            <a:pPr marL="1143000" lvl="2" indent="-22860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這些球隊可能屬於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均衡型球隊</a:t>
            </a:r>
            <a:r>
              <a:rPr lang="zh-TW" altLang="zh-TW" sz="12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，在進攻與防守間具有一定平衡，無特別極端的表現。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2071049-652A-F13F-8D10-A0D30D0A23F4}"/>
              </a:ext>
            </a:extLst>
          </p:cNvPr>
          <p:cNvSpPr txBox="1"/>
          <p:nvPr/>
        </p:nvSpPr>
        <p:spPr>
          <a:xfrm>
            <a:off x="645842" y="1507444"/>
            <a:ext cx="4146360" cy="24454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  <a:defRPr sz="1200" b="1" kern="10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defRPr>
            </a:lvl1pPr>
            <a:lvl2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  <a:defRPr sz="1200" b="1" kern="10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defRPr>
            </a:lvl2pPr>
            <a:lvl3pPr marL="1143000" lvl="2" indent="-22860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  <a:defRPr sz="1200" b="1" kern="10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defRPr>
            </a:lvl3pPr>
          </a:lstStyle>
          <a:p>
            <a:r>
              <a:rPr lang="zh-TW" altLang="en-US" sz="1400" b="0" dirty="0">
                <a:solidFill>
                  <a:schemeClr val="tx1"/>
                </a:solidFill>
              </a:rPr>
              <a:t>統計</a:t>
            </a:r>
            <a:r>
              <a:rPr lang="zh-TW" altLang="zh-TW" sz="1400" b="0" dirty="0">
                <a:solidFill>
                  <a:schemeClr val="tx1"/>
                </a:solidFill>
              </a:rPr>
              <a:t>解釋：</a:t>
            </a:r>
          </a:p>
          <a:p>
            <a:pPr lvl="1"/>
            <a:r>
              <a:rPr lang="zh-TW" altLang="zh-TW" sz="1400" b="0" dirty="0">
                <a:solidFill>
                  <a:schemeClr val="tx1"/>
                </a:solidFill>
              </a:rPr>
              <a:t>樹狀圖的</a:t>
            </a:r>
            <a:r>
              <a:rPr lang="zh-TW" altLang="zh-TW" sz="1400" b="0" dirty="0"/>
              <a:t>高度代表群組之間的差異程度，越高的分支表明群組間的差異更大。</a:t>
            </a:r>
          </a:p>
          <a:p>
            <a:pPr lvl="1"/>
            <a:r>
              <a:rPr lang="zh-TW" altLang="zh-TW" sz="1400" b="0" dirty="0"/>
              <a:t>左側與右側的群組分支較長，表明這些球隊間的差異顯著，例如進攻數據和防守數據的明顯區別。</a:t>
            </a:r>
          </a:p>
          <a:p>
            <a:r>
              <a:rPr lang="zh-TW" altLang="zh-TW" sz="1400" b="0" dirty="0">
                <a:solidFill>
                  <a:schemeClr val="tx1"/>
                </a:solidFill>
              </a:rPr>
              <a:t>中間的群組分支較短，表明這些球隊之間可能更相似。</a:t>
            </a:r>
            <a:endParaRPr lang="zh-TW" altLang="en-US" sz="1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E1A07-26FD-F726-7EED-E7C4DA47E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E5236B12-23CC-0780-6A1A-ED95DEFDF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1974D2B7-174C-118B-BEE7-D2A12B695185}"/>
              </a:ext>
            </a:extLst>
          </p:cNvPr>
          <p:cNvSpPr txBox="1"/>
          <p:nvPr/>
        </p:nvSpPr>
        <p:spPr>
          <a:xfrm>
            <a:off x="1259624" y="184005"/>
            <a:ext cx="80263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4000" b="1" dirty="0">
                <a:solidFill>
                  <a:schemeClr val="bg1"/>
                </a:solidFill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聚類分析</a:t>
            </a: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  <a:p>
            <a:pPr algn="ctr">
              <a:defRPr/>
            </a:pP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1409A75-6F23-35CB-86A1-E5B9979F6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55" y="3428999"/>
            <a:ext cx="7381900" cy="127255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004C652-812A-38FB-DC39-66748EDFB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255" y="5004618"/>
            <a:ext cx="6891771" cy="116123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02DB3F0-6B70-FFA4-A500-EEFC5CAF3C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55" y="1204384"/>
            <a:ext cx="10312302" cy="193873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D94FC3-7501-715B-3F2D-6C0DE2AFC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4907" y="2542405"/>
            <a:ext cx="3869508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群組 1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平均得分最高（696.89），安打數和打擊率也較高，屬於 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進攻型球隊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群組 2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全壘打數最高（HR = 176.64），但得分略低於群組 1，屬於 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長打型球隊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en-US" altLang="zh-TW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群組 3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防守型球隊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。得分最低（610.70），打擊率和安打數也較低，盜壘數較高（SB = 112.20），表明這些球隊可能更多依賴戰術和投手。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47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1C49-A439-55C7-1760-64CCF9AC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582DF12F-7C31-AC8F-4343-BC1B8519D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F2F6D87A-A805-D007-6A8B-25D3D0535746}"/>
              </a:ext>
            </a:extLst>
          </p:cNvPr>
          <p:cNvSpPr txBox="1"/>
          <p:nvPr/>
        </p:nvSpPr>
        <p:spPr>
          <a:xfrm>
            <a:off x="1259624" y="184005"/>
            <a:ext cx="80263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4000" b="1" dirty="0">
                <a:solidFill>
                  <a:schemeClr val="bg1"/>
                </a:solidFill>
                <a:latin typeface="Lantinghei SC Heavy" panose="02000000000000000000" pitchFamily="2" charset="-122"/>
                <a:ea typeface="Lantinghei SC Heavy" panose="02000000000000000000" pitchFamily="2" charset="-122"/>
                <a:cs typeface="+mn-ea"/>
                <a:sym typeface="+mn-lt"/>
              </a:rPr>
              <a:t>聚類分析</a:t>
            </a: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  <a:p>
            <a:pPr algn="ctr">
              <a:defRPr/>
            </a:pP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BEDDE7E-CE47-8855-ABBE-496AD0067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76" y="1692110"/>
            <a:ext cx="6142252" cy="471852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713F358-4F17-9789-E8D1-821C3EF08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104" y="1507444"/>
            <a:ext cx="5045720" cy="246478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451FCC3-269B-27A3-76B1-2A7F1B5A6F7A}"/>
              </a:ext>
            </a:extLst>
          </p:cNvPr>
          <p:cNvSpPr txBox="1"/>
          <p:nvPr/>
        </p:nvSpPr>
        <p:spPr>
          <a:xfrm>
            <a:off x="564176" y="1322778"/>
            <a:ext cx="3212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#可視化群組差異</a:t>
            </a:r>
          </a:p>
        </p:txBody>
      </p:sp>
    </p:spTree>
    <p:extLst>
      <p:ext uri="{BB962C8B-B14F-4D97-AF65-F5344CB8AC3E}">
        <p14:creationId xmlns:p14="http://schemas.microsoft.com/office/powerpoint/2010/main" val="399515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4F8D6899-AD47-1A4E-A84F-9342B738A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FE4481E5-B12D-AC4A-88DA-930E8A1CB0D7}"/>
              </a:ext>
            </a:extLst>
          </p:cNvPr>
          <p:cNvSpPr txBox="1"/>
          <p:nvPr/>
        </p:nvSpPr>
        <p:spPr>
          <a:xfrm>
            <a:off x="1265974" y="184005"/>
            <a:ext cx="80263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4000" b="1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雙向逐步廻歸分析</a:t>
            </a:r>
          </a:p>
          <a:p>
            <a:pPr algn="ctr">
              <a:defRPr/>
            </a:pP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BD72E6E-8B84-B43F-62DA-9FF443018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11" y="899024"/>
            <a:ext cx="6490010" cy="8255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FF9133F-75E0-8269-C991-5EA74836F2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174" y="1734052"/>
            <a:ext cx="8320226" cy="461286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B916070-3D0A-5568-FC05-7CA9D160B0C8}"/>
              </a:ext>
            </a:extLst>
          </p:cNvPr>
          <p:cNvSpPr txBox="1"/>
          <p:nvPr/>
        </p:nvSpPr>
        <p:spPr>
          <a:xfrm>
            <a:off x="8458200" y="1561018"/>
            <a:ext cx="3284941" cy="3728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b="1" dirty="0">
                <a:solidFill>
                  <a:srgbClr val="FF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rPr>
              <a:t>最終的</a:t>
            </a:r>
            <a:r>
              <a:rPr lang="zh-TW" altLang="en-US" sz="1400" b="1" dirty="0">
                <a:solidFill>
                  <a:srgbClr val="FF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rPr>
              <a:t>迴</a:t>
            </a:r>
            <a:r>
              <a:rPr lang="zh-TW" altLang="zh-TW" sz="1400" b="1" dirty="0">
                <a:solidFill>
                  <a:srgbClr val="FF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rPr>
              <a:t>歸模型為：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R=−78.61+0.081×H+0.917×RBI+0.041×SO+0.086×SB</a:t>
            </a:r>
            <a:endParaRPr lang="zh-TW" altLang="zh-TW" sz="1400" b="1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TW" altLang="en-US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結果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解釋與應用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 (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安打數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 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和 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RBI (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打點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 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對得分的影響最顯著，說明這兩項是進攻效率的核心指標。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 (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三振數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 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和 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SB (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盜壘數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 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雖然對得分的影響較小，但仍具有顯著性，可以作為輔助指標。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其他變數（如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BB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HR </a:t>
            </a:r>
            <a:r>
              <a:rPr lang="zh-TW" altLang="zh-TW" sz="1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等）未顯著，可能因數據共線性或影響較小而未被選中。</a:t>
            </a:r>
          </a:p>
        </p:txBody>
      </p:sp>
    </p:spTree>
    <p:extLst>
      <p:ext uri="{BB962C8B-B14F-4D97-AF65-F5344CB8AC3E}">
        <p14:creationId xmlns:p14="http://schemas.microsoft.com/office/powerpoint/2010/main" val="129174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2F632-D621-8640-BCAA-B6F95D10F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2C12C1CD-5610-FFF2-FA2F-BB1C1F6CE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24E3FCCC-E761-CFE8-B740-85AC91C16562}"/>
              </a:ext>
            </a:extLst>
          </p:cNvPr>
          <p:cNvSpPr txBox="1"/>
          <p:nvPr/>
        </p:nvSpPr>
        <p:spPr>
          <a:xfrm>
            <a:off x="1265974" y="184005"/>
            <a:ext cx="80263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4000" b="1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雙向逐步廻歸分析</a:t>
            </a:r>
          </a:p>
          <a:p>
            <a:pPr algn="ctr">
              <a:defRPr/>
            </a:pP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2" name="圖片 1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8350A43B-1C89-ED18-BF40-66E83A48D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07" y="1759354"/>
            <a:ext cx="5140935" cy="173253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8DB1228-93CC-739E-CCA7-5D517EA6B8AA}"/>
              </a:ext>
            </a:extLst>
          </p:cNvPr>
          <p:cNvSpPr txBox="1"/>
          <p:nvPr/>
        </p:nvSpPr>
        <p:spPr>
          <a:xfrm>
            <a:off x="5785091" y="1128887"/>
            <a:ext cx="5140935" cy="5545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TW" altLang="en-US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統計解釋</a:t>
            </a:r>
            <a:endParaRPr lang="en-US" altLang="zh-TW" sz="1200" b="1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zh-TW" altLang="en-US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根據雙向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逐步回歸模型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分析，以下變數對得分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(R)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具有顯著影響：</a:t>
            </a:r>
          </a:p>
          <a:p>
            <a:pPr marL="342900" lvl="0" indent="-342900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 (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安打數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回歸係數：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0.08057</a:t>
            </a:r>
            <a:endParaRPr lang="zh-TW" altLang="zh-TW" sz="1200" b="1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值：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0.0033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（顯著）</a:t>
            </a:r>
          </a:p>
          <a:p>
            <a:pPr marL="742950" lvl="1" indent="-285750"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每增加一次安打，得分平均增加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0.081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。</a:t>
            </a:r>
          </a:p>
          <a:p>
            <a:pPr marL="342900" lvl="0" indent="-342900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RBI (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打點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回歸係數：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0.91744</a:t>
            </a:r>
            <a:endParaRPr lang="zh-TW" altLang="zh-TW" sz="1200" b="1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值：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&lt; 0.0001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（高度顯著）</a:t>
            </a:r>
          </a:p>
          <a:p>
            <a:pPr marL="742950" lvl="1" indent="-285750"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每增加一次打點，得分平均增加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0.917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。</a:t>
            </a:r>
          </a:p>
          <a:p>
            <a:pPr marL="342900" lvl="0" indent="-342900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 (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三振數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回歸係數：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0.04083</a:t>
            </a:r>
            <a:endParaRPr lang="zh-TW" altLang="zh-TW" sz="1200" b="1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值：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0.0088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（顯著）</a:t>
            </a:r>
          </a:p>
          <a:p>
            <a:pPr marL="742950" lvl="1" indent="-285750"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每增加一次三振，得分平均增加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0.041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。</a:t>
            </a:r>
          </a:p>
          <a:p>
            <a:pPr marL="342900" lvl="0" indent="-342900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SB (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盜壘數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回歸係數：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0.08584</a:t>
            </a:r>
            <a:endParaRPr lang="zh-TW" altLang="zh-TW" sz="1200" b="1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 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值：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0.0365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（顯著）</a:t>
            </a:r>
          </a:p>
          <a:p>
            <a:pPr marL="742950" lvl="1" indent="-285750"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每增加一次盜壘，得分平均增加</a:t>
            </a:r>
            <a:r>
              <a:rPr lang="en-US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0.086</a:t>
            </a:r>
            <a:r>
              <a:rPr lang="zh-TW" altLang="zh-TW" sz="1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3863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B230F-5A0D-EEFF-04F1-91F0B64F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1A06CC44-D66D-6465-29CA-AB45C4F80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29297086-6E6F-DFC8-81DE-53E218D3FA3A}"/>
              </a:ext>
            </a:extLst>
          </p:cNvPr>
          <p:cNvSpPr txBox="1"/>
          <p:nvPr/>
        </p:nvSpPr>
        <p:spPr>
          <a:xfrm>
            <a:off x="1377894" y="347785"/>
            <a:ext cx="75264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4000" b="1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總結</a:t>
            </a:r>
          </a:p>
          <a:p>
            <a:pPr algn="ctr">
              <a:defRPr/>
            </a:pP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C2866E6-8A4B-7D1C-64DE-72EA5C35C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089310"/>
              </p:ext>
            </p:extLst>
          </p:nvPr>
        </p:nvGraphicFramePr>
        <p:xfrm>
          <a:off x="460575" y="1835004"/>
          <a:ext cx="5483024" cy="4438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9270">
                  <a:extLst>
                    <a:ext uri="{9D8B030D-6E8A-4147-A177-3AD203B41FA5}">
                      <a16:colId xmlns:a16="http://schemas.microsoft.com/office/drawing/2014/main" val="888408356"/>
                    </a:ext>
                  </a:extLst>
                </a:gridCol>
                <a:gridCol w="1107305">
                  <a:extLst>
                    <a:ext uri="{9D8B030D-6E8A-4147-A177-3AD203B41FA5}">
                      <a16:colId xmlns:a16="http://schemas.microsoft.com/office/drawing/2014/main" val="3916492629"/>
                    </a:ext>
                  </a:extLst>
                </a:gridCol>
                <a:gridCol w="1097086">
                  <a:extLst>
                    <a:ext uri="{9D8B030D-6E8A-4147-A177-3AD203B41FA5}">
                      <a16:colId xmlns:a16="http://schemas.microsoft.com/office/drawing/2014/main" val="1687555778"/>
                    </a:ext>
                  </a:extLst>
                </a:gridCol>
                <a:gridCol w="1095283">
                  <a:extLst>
                    <a:ext uri="{9D8B030D-6E8A-4147-A177-3AD203B41FA5}">
                      <a16:colId xmlns:a16="http://schemas.microsoft.com/office/drawing/2014/main" val="2345762311"/>
                    </a:ext>
                  </a:extLst>
                </a:gridCol>
                <a:gridCol w="1094080">
                  <a:extLst>
                    <a:ext uri="{9D8B030D-6E8A-4147-A177-3AD203B41FA5}">
                      <a16:colId xmlns:a16="http://schemas.microsoft.com/office/drawing/2014/main" val="2111262774"/>
                    </a:ext>
                  </a:extLst>
                </a:gridCol>
              </a:tblGrid>
              <a:tr h="4283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</a:rPr>
                        <a:t>分類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</a:rPr>
                        <a:t>隊伍名稱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</a:rPr>
                        <a:t>主成分分析結果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數據特徵</a:t>
                      </a:r>
                      <a:endParaRPr lang="zh-TW" sz="1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分析結論</a:t>
                      </a:r>
                      <a:endParaRPr lang="zh-TW" sz="1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9800669"/>
                  </a:ext>
                </a:extLst>
              </a:tr>
              <a:tr h="15686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進攻型球隊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洛杉磯道奇隊（Los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 Angeles Dodgers）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位於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 PCA </a:t>
                      </a: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圖右側，與盜壘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 (SB) </a:t>
                      </a: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和四壞球保送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 (BB) </a:t>
                      </a: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高度相關，進攻以</a:t>
                      </a:r>
                      <a:r>
                        <a:rPr lang="zh-TW" sz="1100" kern="0" dirty="0">
                          <a:solidFill>
                            <a:srgbClr val="FF0000"/>
                          </a:solidFill>
                          <a:effectLst/>
                        </a:rPr>
                        <a:t>跑壘與策略為核心。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累積</a:t>
                      </a:r>
                      <a:r>
                        <a:rPr lang="en-US" sz="1100" kern="0" dirty="0">
                          <a:effectLst/>
                        </a:rPr>
                        <a:t> 97 </a:t>
                      </a:r>
                      <a:r>
                        <a:rPr lang="en-US" sz="1100" kern="0" dirty="0" err="1">
                          <a:effectLst/>
                        </a:rPr>
                        <a:t>次盜壘，全壘打</a:t>
                      </a:r>
                      <a:r>
                        <a:rPr lang="en-US" sz="1100" kern="0" dirty="0">
                          <a:effectLst/>
                        </a:rPr>
                        <a:t> 101 </a:t>
                      </a:r>
                      <a:r>
                        <a:rPr lang="en-US" sz="1100" kern="0" dirty="0" err="1">
                          <a:effectLst/>
                        </a:rPr>
                        <a:t>支，長打火力偏弱</a:t>
                      </a:r>
                      <a:r>
                        <a:rPr lang="en-US" sz="1100" kern="0" dirty="0">
                          <a:effectLst/>
                        </a:rPr>
                        <a:t>。</a:t>
                      </a:r>
                      <a:endParaRPr lang="zh-TW" sz="1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道奇隊是典型的進攻型球隊，依靠</a:t>
                      </a:r>
                      <a:r>
                        <a:rPr lang="zh-TW" sz="1100" kern="0" dirty="0">
                          <a:effectLst/>
                        </a:rPr>
                        <a:t>跑壘和穩健盜壘策略得分。</a:t>
                      </a:r>
                      <a:endParaRPr lang="zh-TW" sz="1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5227972"/>
                  </a:ext>
                </a:extLst>
              </a:tr>
              <a:tr h="10876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FF0000"/>
                          </a:solidFill>
                          <a:effectLst/>
                        </a:rPr>
                        <a:t>長打型球隊</a:t>
                      </a:r>
                      <a:endParaRPr lang="zh-TW" sz="1200" kern="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紐約洋基隊（New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 York Yankees）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位於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 PCA </a:t>
                      </a: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圖左上方，與全壘打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 (HR) </a:t>
                      </a: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和打點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 (RBI) </a:t>
                      </a: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高度相關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。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全壘打累積</a:t>
                      </a:r>
                      <a:r>
                        <a:rPr lang="en-US" sz="1100" kern="0" dirty="0">
                          <a:effectLst/>
                        </a:rPr>
                        <a:t> 224 </a:t>
                      </a:r>
                      <a:r>
                        <a:rPr lang="en-US" sz="1100" kern="0" dirty="0" err="1">
                          <a:effectLst/>
                        </a:rPr>
                        <a:t>支，高居全聯盟第一，打點表現突出</a:t>
                      </a:r>
                      <a:r>
                        <a:rPr lang="en-US" sz="1100" kern="0" dirty="0">
                          <a:effectLst/>
                        </a:rPr>
                        <a:t>。</a:t>
                      </a:r>
                      <a:endParaRPr lang="zh-TW" sz="1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</a:rPr>
                        <a:t>洋基隊是長打型代表，依靠強大火力與爆發力壓制對手。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7447839"/>
                  </a:ext>
                </a:extLst>
              </a:tr>
              <a:tr h="13536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FF0000"/>
                          </a:solidFill>
                          <a:effectLst/>
                        </a:rPr>
                        <a:t>防守型球隊</a:t>
                      </a:r>
                      <a:endParaRPr lang="zh-TW" sz="1200" kern="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舊金山巨人隊（San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 Francisco Giants）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位於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 PCA </a:t>
                      </a: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圖中間下方，與一壘安打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 (H1B) </a:t>
                      </a: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和盜壘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 (SB) </a:t>
                      </a:r>
                      <a:r>
                        <a:rPr lang="en-US" sz="1100" kern="0" dirty="0" err="1">
                          <a:solidFill>
                            <a:srgbClr val="FF0000"/>
                          </a:solidFill>
                          <a:effectLst/>
                        </a:rPr>
                        <a:t>高相關</a:t>
                      </a:r>
                      <a:r>
                        <a:rPr lang="en-US" sz="1100" kern="0" dirty="0">
                          <a:solidFill>
                            <a:srgbClr val="FF0000"/>
                          </a:solidFill>
                          <a:effectLst/>
                        </a:rPr>
                        <a:t>。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全壘打僅</a:t>
                      </a:r>
                      <a:r>
                        <a:rPr lang="en-US" sz="1100" kern="0" dirty="0">
                          <a:effectLst/>
                        </a:rPr>
                        <a:t> 95 </a:t>
                      </a:r>
                      <a:r>
                        <a:rPr lang="en-US" sz="1100" kern="0" dirty="0" err="1">
                          <a:effectLst/>
                        </a:rPr>
                        <a:t>支，一壘安打接近</a:t>
                      </a:r>
                      <a:r>
                        <a:rPr lang="en-US" sz="1100" kern="0" dirty="0">
                          <a:effectLst/>
                        </a:rPr>
                        <a:t> 1000 </a:t>
                      </a:r>
                      <a:r>
                        <a:rPr lang="en-US" sz="1100" kern="0" dirty="0" err="1">
                          <a:effectLst/>
                        </a:rPr>
                        <a:t>支，盜壘</a:t>
                      </a:r>
                      <a:r>
                        <a:rPr lang="en-US" sz="1100" kern="0" dirty="0">
                          <a:effectLst/>
                        </a:rPr>
                        <a:t> 109 </a:t>
                      </a:r>
                      <a:r>
                        <a:rPr lang="en-US" sz="1100" kern="0" dirty="0" err="1">
                          <a:effectLst/>
                        </a:rPr>
                        <a:t>次，穩定的基本攻</a:t>
                      </a:r>
                      <a:r>
                        <a:rPr lang="zh-TW" sz="1100" kern="0" dirty="0">
                          <a:effectLst/>
                        </a:rPr>
                        <a:t>擊能力。</a:t>
                      </a:r>
                      <a:endParaRPr lang="zh-TW" sz="1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巨人隊以穩定表現和防守能力著稱，奠定奪冠基礎</a:t>
                      </a:r>
                      <a:r>
                        <a:rPr lang="en-US" sz="1100" kern="0" dirty="0">
                          <a:effectLst/>
                        </a:rPr>
                        <a:t>。</a:t>
                      </a:r>
                      <a:endParaRPr lang="zh-TW" sz="1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82336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856A3EB9-EC35-C790-1CC4-374D4AFEE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75" y="1318558"/>
            <a:ext cx="1349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主成份分析結果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51ECCE0-A2F8-5BDA-40F8-DEC9607C6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042252"/>
              </p:ext>
            </p:extLst>
          </p:nvPr>
        </p:nvGraphicFramePr>
        <p:xfrm>
          <a:off x="6180239" y="1835004"/>
          <a:ext cx="5333736" cy="4438384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880066">
                  <a:extLst>
                    <a:ext uri="{9D8B030D-6E8A-4147-A177-3AD203B41FA5}">
                      <a16:colId xmlns:a16="http://schemas.microsoft.com/office/drawing/2014/main" val="3932945211"/>
                    </a:ext>
                  </a:extLst>
                </a:gridCol>
                <a:gridCol w="995631">
                  <a:extLst>
                    <a:ext uri="{9D8B030D-6E8A-4147-A177-3AD203B41FA5}">
                      <a16:colId xmlns:a16="http://schemas.microsoft.com/office/drawing/2014/main" val="3536773355"/>
                    </a:ext>
                  </a:extLst>
                </a:gridCol>
                <a:gridCol w="977852">
                  <a:extLst>
                    <a:ext uri="{9D8B030D-6E8A-4147-A177-3AD203B41FA5}">
                      <a16:colId xmlns:a16="http://schemas.microsoft.com/office/drawing/2014/main" val="679661151"/>
                    </a:ext>
                  </a:extLst>
                </a:gridCol>
                <a:gridCol w="1200092">
                  <a:extLst>
                    <a:ext uri="{9D8B030D-6E8A-4147-A177-3AD203B41FA5}">
                      <a16:colId xmlns:a16="http://schemas.microsoft.com/office/drawing/2014/main" val="3202580429"/>
                    </a:ext>
                  </a:extLst>
                </a:gridCol>
                <a:gridCol w="1280095">
                  <a:extLst>
                    <a:ext uri="{9D8B030D-6E8A-4147-A177-3AD203B41FA5}">
                      <a16:colId xmlns:a16="http://schemas.microsoft.com/office/drawing/2014/main" val="4056661573"/>
                    </a:ext>
                  </a:extLst>
                </a:gridCol>
              </a:tblGrid>
              <a:tr h="6732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100" kern="100" dirty="0">
                          <a:effectLst/>
                        </a:rPr>
                        <a:t>群組</a:t>
                      </a:r>
                      <a:endParaRPr lang="zh-TW" sz="11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100" kern="100" dirty="0">
                          <a:effectLst/>
                        </a:rPr>
                        <a:t>包含隊伍編號</a:t>
                      </a:r>
                      <a:endParaRPr lang="zh-TW" sz="11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100" kern="100" dirty="0">
                          <a:effectLst/>
                        </a:rPr>
                        <a:t>代表球隊</a:t>
                      </a:r>
                      <a:endParaRPr lang="zh-TW" sz="11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100" kern="100" dirty="0">
                          <a:effectLst/>
                        </a:rPr>
                        <a:t>特徵</a:t>
                      </a:r>
                      <a:endParaRPr lang="zh-TW" sz="11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100" kern="100" dirty="0">
                          <a:effectLst/>
                        </a:rPr>
                        <a:t>分析結論</a:t>
                      </a:r>
                      <a:endParaRPr lang="zh-TW" sz="11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8500" marR="48500" marT="0" marB="0"/>
                </a:tc>
                <a:extLst>
                  <a:ext uri="{0D108BD9-81ED-4DB2-BD59-A6C34878D82A}">
                    <a16:rowId xmlns:a16="http://schemas.microsoft.com/office/drawing/2014/main" val="2020383778"/>
                  </a:ext>
                </a:extLst>
              </a:tr>
              <a:tr h="15710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100" kern="100" dirty="0">
                          <a:effectLst/>
                          <a:latin typeface="deengXian Light"/>
                        </a:rPr>
                        <a:t>第一大群組（強攻擊型）</a:t>
                      </a:r>
                      <a:endParaRPr lang="zh-TW" sz="1100" kern="100" dirty="0">
                        <a:effectLst/>
                        <a:latin typeface="deengXian Ligh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zh-TW" altLang="en-US" sz="1100" kern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紐約洋基隊</a:t>
                      </a: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</a:t>
                      </a:r>
                      <a:r>
                        <a:rPr 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HR</a:t>
                      </a: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（全壘打）與高</a:t>
                      </a:r>
                      <a:r>
                        <a:rPr 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RBI</a:t>
                      </a: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（打點），火力突出的長打型球隊。</a:t>
                      </a: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這些球隊依靠強大的打擊火力壓制對手。</a:t>
                      </a:r>
                    </a:p>
                  </a:txBody>
                  <a:tcPr marL="48500" marR="48500" marT="0" marB="0"/>
                </a:tc>
                <a:extLst>
                  <a:ext uri="{0D108BD9-81ED-4DB2-BD59-A6C34878D82A}">
                    <a16:rowId xmlns:a16="http://schemas.microsoft.com/office/drawing/2014/main" val="611886823"/>
                  </a:ext>
                </a:extLst>
              </a:tr>
              <a:tr h="9390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100" kern="100">
                          <a:effectLst/>
                        </a:rPr>
                        <a:t>第二大群組（防守型）</a:t>
                      </a:r>
                      <a:endParaRPr lang="zh-TW" sz="11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zh-TW" altLang="en-US" sz="1100" ker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sz="1100" ker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zh-TW" altLang="en-US" sz="1100" ker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舊金山巨人隊</a:t>
                      </a: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數據均衡且穩定，專注於防守表現。</a:t>
                      </a: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這些球隊通過穩定的攻防表現取得成功。</a:t>
                      </a:r>
                    </a:p>
                  </a:txBody>
                  <a:tcPr marL="48500" marR="48500" marT="0" marB="0"/>
                </a:tc>
                <a:extLst>
                  <a:ext uri="{0D108BD9-81ED-4DB2-BD59-A6C34878D82A}">
                    <a16:rowId xmlns:a16="http://schemas.microsoft.com/office/drawing/2014/main" val="3418785600"/>
                  </a:ext>
                </a:extLst>
              </a:tr>
              <a:tr h="12550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100" kern="100">
                          <a:effectLst/>
                        </a:rPr>
                        <a:t>第三群組（均衡型）</a:t>
                      </a:r>
                      <a:endParaRPr lang="zh-TW" sz="11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TW" altLang="en-US" sz="1100" ker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sz="1100" ker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TW" altLang="en-US" sz="1100" ker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sz="1100" ker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1100" ker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洛杉磯道奇隊</a:t>
                      </a: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與盜壘（</a:t>
                      </a:r>
                      <a:r>
                        <a:rPr 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SB</a:t>
                      </a: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）和安打（</a:t>
                      </a:r>
                      <a:r>
                        <a:rPr 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H1B</a:t>
                      </a: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）相關，進攻與防守中規中矩。</a:t>
                      </a:r>
                    </a:p>
                  </a:txBody>
                  <a:tcPr marL="48500" marR="4850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altLang="en-US" sz="11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這些球隊無突出的強項，但表現穩定。</a:t>
                      </a:r>
                    </a:p>
                  </a:txBody>
                  <a:tcPr marL="48500" marR="48500" marT="0" marB="0"/>
                </a:tc>
                <a:extLst>
                  <a:ext uri="{0D108BD9-81ED-4DB2-BD59-A6C34878D82A}">
                    <a16:rowId xmlns:a16="http://schemas.microsoft.com/office/drawing/2014/main" val="3064428801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72A29F04-D985-893F-802B-7D71E44A6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5092" y="1318558"/>
            <a:ext cx="239310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分群的分析觀察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00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BA398-00B6-353C-B29D-50BC85F6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65A02AE1-C015-49EC-27A4-C3E7E1115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50" y="184005"/>
            <a:ext cx="4631850" cy="825500"/>
          </a:xfrm>
          <a:prstGeom prst="rect">
            <a:avLst/>
          </a:prstGeom>
        </p:spPr>
      </p:pic>
      <p:sp>
        <p:nvSpPr>
          <p:cNvPr id="11" name="文本框 26">
            <a:extLst>
              <a:ext uri="{FF2B5EF4-FFF2-40B4-BE49-F238E27FC236}">
                <a16:creationId xmlns:a16="http://schemas.microsoft.com/office/drawing/2014/main" id="{45790661-02BE-6B2D-5F47-4F7E6A7AEDA4}"/>
              </a:ext>
            </a:extLst>
          </p:cNvPr>
          <p:cNvSpPr txBox="1"/>
          <p:nvPr/>
        </p:nvSpPr>
        <p:spPr>
          <a:xfrm>
            <a:off x="1377894" y="347785"/>
            <a:ext cx="75264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4000" b="1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總結</a:t>
            </a:r>
          </a:p>
          <a:p>
            <a:pPr algn="ctr">
              <a:defRPr/>
            </a:pPr>
            <a:endParaRPr lang="zh-CN" altLang="en-US" sz="4000" b="1" dirty="0">
              <a:solidFill>
                <a:schemeClr val="bg1"/>
              </a:solidFill>
              <a:latin typeface="Lantinghei SC Heavy" panose="02000000000000000000" pitchFamily="2" charset="-122"/>
              <a:ea typeface="Lantinghei SC Heavy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9C73935-281A-C473-BAEC-82392902378E}"/>
              </a:ext>
            </a:extLst>
          </p:cNvPr>
          <p:cNvSpPr txBox="1"/>
          <p:nvPr/>
        </p:nvSpPr>
        <p:spPr>
          <a:xfrm>
            <a:off x="1015481" y="1671224"/>
            <a:ext cx="10161038" cy="379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2012 </a:t>
            </a:r>
            <a:r>
              <a:rPr lang="zh-TW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年</a:t>
            </a:r>
            <a:r>
              <a:rPr lang="en-US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MLB </a:t>
            </a:r>
            <a:r>
              <a:rPr lang="zh-TW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冠軍隊伍：舊金山巨人隊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儘管巨人隊缺乏全壘打火力，但憑藉穩定的基本攻擊能力和防守表現成功奪冠。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他們以團隊合作、高效利用得分機會和優異的跑壘能力在季後賽中脫穎而出。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  </a:t>
            </a:r>
            <a:endParaRPr lang="zh-TW" altLang="zh-TW" sz="16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TW" altLang="zh-TW" sz="16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結論與建議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6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進攻型球隊（洛杉磯道奇隊）擅長以策略與跑壘打亂對手節奏。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6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長打型球隊（紐約洋基隊）以爆發性火力稱霸，但需要穩定的團隊配合來彌補防守劣勢。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16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防守型球隊（舊金山巨人隊）依靠穩定性與效率最終問鼎冠軍，是平衡策略的最佳典範。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TW" altLang="zh-TW" sz="18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透過主成分分析、分群、廻歸，清晰展示了球隊的不同特徵與優勢，及找出影響得分的顯著因素，這些結果對球隊管理與策略優化提供了重要的參考依據</a:t>
            </a:r>
            <a:r>
              <a:rPr lang="zh-TW" altLang="zh-TW" sz="16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0722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FFACB-F88C-79DD-90B1-29747165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039A951C-7325-A96A-F0C8-E8A3859D34E0}"/>
              </a:ext>
            </a:extLst>
          </p:cNvPr>
          <p:cNvGrpSpPr/>
          <p:nvPr/>
        </p:nvGrpSpPr>
        <p:grpSpPr>
          <a:xfrm>
            <a:off x="194825" y="-25758"/>
            <a:ext cx="11997170" cy="6883758"/>
            <a:chOff x="194825" y="-25758"/>
            <a:chExt cx="11997170" cy="6883758"/>
          </a:xfrm>
        </p:grpSpPr>
        <p:sp>
          <p:nvSpPr>
            <p:cNvPr id="4" name="平行四边形 3">
              <a:extLst>
                <a:ext uri="{FF2B5EF4-FFF2-40B4-BE49-F238E27FC236}">
                  <a16:creationId xmlns:a16="http://schemas.microsoft.com/office/drawing/2014/main" id="{7AAD0AB4-0665-8930-A113-0BF837098F17}"/>
                </a:ext>
              </a:extLst>
            </p:cNvPr>
            <p:cNvSpPr/>
            <p:nvPr/>
          </p:nvSpPr>
          <p:spPr>
            <a:xfrm flipH="1">
              <a:off x="194825" y="-25758"/>
              <a:ext cx="5012144" cy="6883758"/>
            </a:xfrm>
            <a:custGeom>
              <a:avLst/>
              <a:gdLst>
                <a:gd name="connsiteX0" fmla="*/ 0 w 4211392"/>
                <a:gd name="connsiteY0" fmla="*/ 6858000 h 6858000"/>
                <a:gd name="connsiteX1" fmla="*/ 1052848 w 4211392"/>
                <a:gd name="connsiteY1" fmla="*/ 0 h 6858000"/>
                <a:gd name="connsiteX2" fmla="*/ 4211392 w 4211392"/>
                <a:gd name="connsiteY2" fmla="*/ 0 h 6858000"/>
                <a:gd name="connsiteX3" fmla="*/ 3158544 w 4211392"/>
                <a:gd name="connsiteY3" fmla="*/ 6858000 h 6858000"/>
                <a:gd name="connsiteX4" fmla="*/ 0 w 4211392"/>
                <a:gd name="connsiteY4" fmla="*/ 6858000 h 6858000"/>
                <a:gd name="connsiteX0" fmla="*/ 0 w 4211392"/>
                <a:gd name="connsiteY0" fmla="*/ 6883758 h 6883758"/>
                <a:gd name="connsiteX1" fmla="*/ 1696792 w 4211392"/>
                <a:gd name="connsiteY1" fmla="*/ 0 h 6883758"/>
                <a:gd name="connsiteX2" fmla="*/ 4211392 w 4211392"/>
                <a:gd name="connsiteY2" fmla="*/ 25758 h 6883758"/>
                <a:gd name="connsiteX3" fmla="*/ 3158544 w 4211392"/>
                <a:gd name="connsiteY3" fmla="*/ 6883758 h 6883758"/>
                <a:gd name="connsiteX4" fmla="*/ 0 w 4211392"/>
                <a:gd name="connsiteY4" fmla="*/ 6883758 h 6883758"/>
                <a:gd name="connsiteX0" fmla="*/ 0 w 4211392"/>
                <a:gd name="connsiteY0" fmla="*/ 6883758 h 6883758"/>
                <a:gd name="connsiteX1" fmla="*/ 1696792 w 4211392"/>
                <a:gd name="connsiteY1" fmla="*/ 0 h 6883758"/>
                <a:gd name="connsiteX2" fmla="*/ 4211392 w 4211392"/>
                <a:gd name="connsiteY2" fmla="*/ 25758 h 6883758"/>
                <a:gd name="connsiteX3" fmla="*/ 2720663 w 4211392"/>
                <a:gd name="connsiteY3" fmla="*/ 6883758 h 6883758"/>
                <a:gd name="connsiteX4" fmla="*/ 0 w 4211392"/>
                <a:gd name="connsiteY4" fmla="*/ 6883758 h 6883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11392" h="6883758">
                  <a:moveTo>
                    <a:pt x="0" y="6883758"/>
                  </a:moveTo>
                  <a:lnTo>
                    <a:pt x="1696792" y="0"/>
                  </a:lnTo>
                  <a:lnTo>
                    <a:pt x="4211392" y="25758"/>
                  </a:lnTo>
                  <a:lnTo>
                    <a:pt x="2720663" y="6883758"/>
                  </a:lnTo>
                  <a:lnTo>
                    <a:pt x="0" y="688375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F50C71B0-2312-C789-ACC5-ED8C978052FE}"/>
                </a:ext>
              </a:extLst>
            </p:cNvPr>
            <p:cNvSpPr/>
            <p:nvPr/>
          </p:nvSpPr>
          <p:spPr>
            <a:xfrm flipH="1" flipV="1">
              <a:off x="10457645" y="-6"/>
              <a:ext cx="1734350" cy="5022767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529F19B-EC12-4457-188C-546D0D3910E0}"/>
              </a:ext>
            </a:extLst>
          </p:cNvPr>
          <p:cNvSpPr/>
          <p:nvPr/>
        </p:nvSpPr>
        <p:spPr>
          <a:xfrm>
            <a:off x="5903843" y="2857364"/>
            <a:ext cx="4812218" cy="8885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庞门正道标题体" panose="02010600030101010101" pitchFamily="2" charset="-122"/>
              <a:ea typeface="庞门正道标题体" panose="02010600030101010101" pitchFamily="2" charset="-122"/>
              <a:sym typeface="Source Han Sans HW SC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0B4FBC-7C14-F3B4-B75A-2D73F2FF3828}"/>
              </a:ext>
            </a:extLst>
          </p:cNvPr>
          <p:cNvSpPr txBox="1"/>
          <p:nvPr/>
        </p:nvSpPr>
        <p:spPr>
          <a:xfrm>
            <a:off x="6250508" y="2916903"/>
            <a:ext cx="5522173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01073">
              <a:defRPr/>
            </a:pPr>
            <a:r>
              <a:rPr lang="en-US" altLang="zh-CN" sz="4400" b="1" dirty="0">
                <a:solidFill>
                  <a:srgbClr val="0776B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经典综艺体简" panose="02010609000101010101" pitchFamily="49" charset="-122"/>
                <a:sym typeface="Source Han Sans HW SC"/>
              </a:rPr>
              <a:t>THANK YOU!</a:t>
            </a:r>
            <a:endParaRPr lang="zh-CN" altLang="en-US" sz="4400" b="1" dirty="0">
              <a:solidFill>
                <a:srgbClr val="0776B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经典综艺体简" panose="02010609000101010101" pitchFamily="49" charset="-122"/>
              <a:sym typeface="Source Han Sans HW SC"/>
            </a:endParaRPr>
          </a:p>
        </p:txBody>
      </p:sp>
      <p:pic>
        <p:nvPicPr>
          <p:cNvPr id="5" name="圖片 4" descr="一張含有 球, 草, 運動配備, 棒球 的圖片&#10;&#10;自動產生的描述">
            <a:extLst>
              <a:ext uri="{FF2B5EF4-FFF2-40B4-BE49-F238E27FC236}">
                <a16:creationId xmlns:a16="http://schemas.microsoft.com/office/drawing/2014/main" id="{EB534A95-7A7C-392A-44AD-C9BC356379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-1"/>
          <a:stretch/>
        </p:blipFill>
        <p:spPr>
          <a:xfrm>
            <a:off x="0" y="-127372"/>
            <a:ext cx="54397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1"/>
</p:tagLst>
</file>

<file path=ppt/theme/theme1.xml><?xml version="1.0" encoding="utf-8"?>
<a:theme xmlns:a="http://schemas.openxmlformats.org/drawingml/2006/main" name="Office 主题​​">
  <a:themeElements>
    <a:clrScheme name="自定义 88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034A90"/>
      </a:accent2>
      <a:accent3>
        <a:srgbClr val="5B9BD5"/>
      </a:accent3>
      <a:accent4>
        <a:srgbClr val="034A90"/>
      </a:accent4>
      <a:accent5>
        <a:srgbClr val="5B9BD5"/>
      </a:accent5>
      <a:accent6>
        <a:srgbClr val="034A90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主題">
  <a:themeElements>
    <a:clrScheme name="灰階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2013 - 2022 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自定义 889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034A90"/>
    </a:accent2>
    <a:accent3>
      <a:srgbClr val="5B9BD5"/>
    </a:accent3>
    <a:accent4>
      <a:srgbClr val="034A90"/>
    </a:accent4>
    <a:accent5>
      <a:srgbClr val="5B9BD5"/>
    </a:accent5>
    <a:accent6>
      <a:srgbClr val="034A90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889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034A90"/>
    </a:accent2>
    <a:accent3>
      <a:srgbClr val="5B9BD5"/>
    </a:accent3>
    <a:accent4>
      <a:srgbClr val="034A90"/>
    </a:accent4>
    <a:accent5>
      <a:srgbClr val="5B9BD5"/>
    </a:accent5>
    <a:accent6>
      <a:srgbClr val="034A90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自定义 889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034A90"/>
    </a:accent2>
    <a:accent3>
      <a:srgbClr val="5B9BD5"/>
    </a:accent3>
    <a:accent4>
      <a:srgbClr val="034A90"/>
    </a:accent4>
    <a:accent5>
      <a:srgbClr val="5B9BD5"/>
    </a:accent5>
    <a:accent6>
      <a:srgbClr val="034A90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自定义 889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034A90"/>
    </a:accent2>
    <a:accent3>
      <a:srgbClr val="5B9BD5"/>
    </a:accent3>
    <a:accent4>
      <a:srgbClr val="034A90"/>
    </a:accent4>
    <a:accent5>
      <a:srgbClr val="5B9BD5"/>
    </a:accent5>
    <a:accent6>
      <a:srgbClr val="034A90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自定义 889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034A90"/>
    </a:accent2>
    <a:accent3>
      <a:srgbClr val="5B9BD5"/>
    </a:accent3>
    <a:accent4>
      <a:srgbClr val="034A90"/>
    </a:accent4>
    <a:accent5>
      <a:srgbClr val="5B9BD5"/>
    </a:accent5>
    <a:accent6>
      <a:srgbClr val="034A90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自定义 889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034A90"/>
    </a:accent2>
    <a:accent3>
      <a:srgbClr val="5B9BD5"/>
    </a:accent3>
    <a:accent4>
      <a:srgbClr val="034A90"/>
    </a:accent4>
    <a:accent5>
      <a:srgbClr val="5B9BD5"/>
    </a:accent5>
    <a:accent6>
      <a:srgbClr val="034A9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336</TotalTime>
  <Words>2558</Words>
  <Application>Microsoft Office PowerPoint</Application>
  <PresentationFormat>寬螢幕</PresentationFormat>
  <Paragraphs>270</Paragraphs>
  <Slides>27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18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27</vt:i4>
      </vt:variant>
    </vt:vector>
  </HeadingPairs>
  <TitlesOfParts>
    <vt:vector size="47" baseType="lpstr">
      <vt:lpstr>deengXian Light</vt:lpstr>
      <vt:lpstr>等线</vt:lpstr>
      <vt:lpstr>等线 Light</vt:lpstr>
      <vt:lpstr>Lantinghei SC Demibold</vt:lpstr>
      <vt:lpstr>Lantinghei SC Heavy</vt:lpstr>
      <vt:lpstr>Microsoft YaHei</vt:lpstr>
      <vt:lpstr>庞门正道标题体</vt:lpstr>
      <vt:lpstr>微軟正黑體</vt:lpstr>
      <vt:lpstr>Microsoft JhengHei Light</vt:lpstr>
      <vt:lpstr>新細明體</vt:lpstr>
      <vt:lpstr>Aptos</vt:lpstr>
      <vt:lpstr>Arial</vt:lpstr>
      <vt:lpstr>Calibri</vt:lpstr>
      <vt:lpstr>Calibri Light</vt:lpstr>
      <vt:lpstr>Courier New</vt:lpstr>
      <vt:lpstr>Lucida Console</vt:lpstr>
      <vt:lpstr>Symbol</vt:lpstr>
      <vt:lpstr>Wingdings</vt:lpstr>
      <vt:lpstr>Office 主题​​</vt:lpstr>
      <vt:lpstr>Office 2013 - 2022 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賴雅鈴</dc:creator>
  <cp:lastModifiedBy>賴雅鈴</cp:lastModifiedBy>
  <cp:revision>241</cp:revision>
  <dcterms:created xsi:type="dcterms:W3CDTF">2024-11-01T15:25:07Z</dcterms:created>
  <dcterms:modified xsi:type="dcterms:W3CDTF">2026-06-12T14:49:07Z</dcterms:modified>
</cp:coreProperties>
</file>